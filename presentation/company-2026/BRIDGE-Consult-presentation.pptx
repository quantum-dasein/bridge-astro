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Consult — независимая консалтинговая компания из Ташкента: контрактный инжиниринг, FIDIC/EPC, претензии и разрешение споров.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Компания основана в 2016 году. Фокус — контрактный инжиниринг, администрирование контрактов и разрешение споров в проектах МФИ.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10+ лет на рынке, 20+ крупных проектов, 27 лет опыта основателя, 100% фокус на интересах клиента.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направления: контрактный инжиниринг, администрирование контрактов, споры и арбитраж, аналитика и обучение.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Практика по всей линейке FIDIC: Red, Yellow, Silver, Pink (MDB Harmonised), White Book; методики FDA и работа с DAAB.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Ключевые проекты: Олимпийский городок (EPC+F), Tashkent Invest Company (White Book), А-373 Камчик (MDB Harmonised), проекты водоснабжения WB/EBRD/OPEC/АБР.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Команда: основатель Лариса Белоусова, партнёр д-р Анна Убайдуллаева, Эрнест Белоусов, Люция Ахмедиева, Ольга Митрофанова.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Квалификации FIDIC FCCE/FCCP, аккредитация АБР, MCIArb, DRBF, арбитр МКАС. Работа с проектами ADB, World Bank, EBRD.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причины: международный стандарт, локальная адаптация, комплексная защита интересов клиента.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Контакты: +998 33 000 15 30, info@bridgeconsult.uz, bridgeconsult.uz, Telegram t.me/fidicuzb.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tel:+998330001530" TargetMode="External"/><Relationship Id="rId4" Type="http://schemas.openxmlformats.org/officeDocument/2006/relationships/hyperlink" Target="mailto:info@bridgeconsult.uz" TargetMode="External"/><Relationship Id="rId5" Type="http://schemas.openxmlformats.org/officeDocument/2006/relationships/hyperlink" Target="https://www.bridgeconsult.uz" TargetMode="External"/><Relationship Id="rId6" Type="http://schemas.openxmlformats.org/officeDocument/2006/relationships/hyperlink" Target="https://t.me/fidicuzb" TargetMode="External"/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7" Type="http://schemas.openxmlformats.org/officeDocument/2006/relationships/image" Target="../media/image-10-3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c1_1" descr="/home/user/bridge-astro/presentation/company-2026/assets/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bc1_2" descr="/home/user/bridge-astro/presentation/company-2026/assets/logo-pap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2920"/>
            <a:ext cx="1828800" cy="687543"/>
          </a:xfrm>
          <a:prstGeom prst="rect">
            <a:avLst/>
          </a:prstGeom>
        </p:spPr>
      </p:pic>
      <p:sp>
        <p:nvSpPr>
          <p:cNvPr id="4" name="bc1_3"/>
          <p:cNvSpPr/>
          <p:nvPr/>
        </p:nvSpPr>
        <p:spPr>
          <a:xfrm>
            <a:off x="685800" y="2340864"/>
            <a:ext cx="384048" cy="0"/>
          </a:xfrm>
          <a:prstGeom prst="line">
            <a:avLst/>
          </a:prstGeom>
          <a:noFill/>
          <a:ln w="12700">
            <a:solidFill>
              <a:srgbClr val="D8BD96"/>
            </a:solidFill>
            <a:prstDash val="solid"/>
          </a:ln>
        </p:spPr>
      </p:sp>
      <p:sp>
        <p:nvSpPr>
          <p:cNvPr id="5" name="bc1_4"/>
          <p:cNvSpPr txBox="1"/>
          <p:nvPr/>
        </p:nvSpPr>
        <p:spPr>
          <a:xfrm>
            <a:off x="1216152" y="22402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D8BD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КОНТРАКТНЫЙ ИНЖИНИРИНГ · FIDIC / EPC</a:t>
            </a:r>
            <a:endParaRPr lang="en-US" sz="900" dirty="0"/>
          </a:p>
        </p:txBody>
      </p:sp>
      <p:sp>
        <p:nvSpPr>
          <p:cNvPr id="6" name="bc1_5"/>
          <p:cNvSpPr txBox="1"/>
          <p:nvPr/>
        </p:nvSpPr>
        <p:spPr>
          <a:xfrm>
            <a:off x="658368" y="2606040"/>
            <a:ext cx="7315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Контракты,</a:t>
            </a:r>
            <a:endParaRPr lang="en-US" sz="5600" dirty="0"/>
          </a:p>
        </p:txBody>
      </p:sp>
      <p:sp>
        <p:nvSpPr>
          <p:cNvPr id="7" name="bc1_6"/>
          <p:cNvSpPr txBox="1"/>
          <p:nvPr/>
        </p:nvSpPr>
        <p:spPr>
          <a:xfrm>
            <a:off x="658368" y="3410712"/>
            <a:ext cx="7315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которые работают</a:t>
            </a:r>
            <a:endParaRPr lang="en-US" sz="5600" dirty="0"/>
          </a:p>
        </p:txBody>
      </p:sp>
      <p:sp>
        <p:nvSpPr>
          <p:cNvPr id="8" name="bc1_7"/>
          <p:cNvSpPr txBox="1"/>
          <p:nvPr/>
        </p:nvSpPr>
        <p:spPr>
          <a:xfrm>
            <a:off x="658368" y="4215384"/>
            <a:ext cx="7315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i="1" dirty="0">
                <a:solidFill>
                  <a:srgbClr val="D8BD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 проект.</a:t>
            </a:r>
            <a:endParaRPr lang="en-US" sz="5600" dirty="0"/>
          </a:p>
        </p:txBody>
      </p:sp>
      <p:sp>
        <p:nvSpPr>
          <p:cNvPr id="9" name="bc1_8"/>
          <p:cNvSpPr txBox="1"/>
          <p:nvPr/>
        </p:nvSpPr>
        <p:spPr>
          <a:xfrm>
            <a:off x="685800" y="53035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Независимый консалтинг по инфраструктурным контрактам, претензиям и разрешению споров в проектах, финансируемых международными финансовыми институтами.</a:t>
            </a:r>
            <a:endParaRPr lang="en-US" sz="1250" dirty="0"/>
          </a:p>
        </p:txBody>
      </p:sp>
      <p:sp>
        <p:nvSpPr>
          <p:cNvPr id="10" name="bc1_9"/>
          <p:cNvSpPr txBox="1"/>
          <p:nvPr/>
        </p:nvSpPr>
        <p:spPr>
          <a:xfrm>
            <a:off x="68580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Презентация компании  ·  Ташкент  ·  2026</a:t>
            </a:r>
            <a:endParaRPr lang="en-US" sz="800" dirty="0"/>
          </a:p>
        </p:txBody>
      </p:sp>
      <p:sp>
        <p:nvSpPr>
          <p:cNvPr id="11" name="bc1_10"/>
          <p:cNvSpPr txBox="1"/>
          <p:nvPr/>
        </p:nvSpPr>
        <p:spPr>
          <a:xfrm>
            <a:off x="877824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41.2995° N  ·  69.2401° E</a:t>
            </a:r>
            <a:endParaRPr lang="en-US" sz="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200" fill="hold" decel="10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200" fill="hold" decel="10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44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1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100" fill="hold" decel="10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1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1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/>
      <p:bldP spid="9" grpId="0"/>
      <p:bldP spid="10" grpId="0"/>
      <p:bldP spid="1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c2_1" descr="/home/user/bridge-astro/presentation/company-2026/assets/abou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754880" cy="6858000"/>
          </a:xfrm>
          <a:prstGeom prst="rect">
            <a:avLst/>
          </a:prstGeom>
        </p:spPr>
      </p:pic>
      <p:sp>
        <p:nvSpPr>
          <p:cNvPr id="3" name="bc2_2"/>
          <p:cNvSpPr txBox="1"/>
          <p:nvPr/>
        </p:nvSpPr>
        <p:spPr>
          <a:xfrm>
            <a:off x="548640" y="437083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D8BD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2016 ГОДА</a:t>
            </a:r>
            <a:endParaRPr lang="en-US" sz="900" dirty="0"/>
          </a:p>
        </p:txBody>
      </p:sp>
      <p:sp>
        <p:nvSpPr>
          <p:cNvPr id="4" name="bc2_3"/>
          <p:cNvSpPr txBox="1"/>
          <p:nvPr/>
        </p:nvSpPr>
        <p:spPr>
          <a:xfrm>
            <a:off x="475488" y="4553712"/>
            <a:ext cx="3931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i="1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2016</a:t>
            </a:r>
            <a:endParaRPr lang="en-US" sz="9600" dirty="0"/>
          </a:p>
        </p:txBody>
      </p:sp>
      <p:sp>
        <p:nvSpPr>
          <p:cNvPr id="5" name="bc2_4"/>
          <p:cNvSpPr txBox="1"/>
          <p:nvPr/>
        </p:nvSpPr>
        <p:spPr>
          <a:xfrm>
            <a:off x="548640" y="5897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Зарегистрирована в Республике Узбекистан</a:t>
            </a:r>
            <a:endParaRPr lang="en-US" sz="1050" dirty="0"/>
          </a:p>
        </p:txBody>
      </p:sp>
      <p:sp>
        <p:nvSpPr>
          <p:cNvPr id="6" name="bc2_5"/>
          <p:cNvSpPr txBox="1"/>
          <p:nvPr/>
        </p:nvSpPr>
        <p:spPr>
          <a:xfrm>
            <a:off x="9692640" y="4389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pPr algn="r" indent="0" marL="0">
              <a:buNone/>
            </a:pPr>
            <a:r>
              <a:rPr lang="en-US" sz="900" b="1" spc="200" kern="0" dirty="0">
                <a:solidFill>
                  <a:srgbClr val="6E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10</a:t>
            </a:r>
            <a:endParaRPr lang="en-US" sz="900" dirty="0"/>
          </a:p>
        </p:txBody>
      </p:sp>
      <p:sp>
        <p:nvSpPr>
          <p:cNvPr id="7" name="bc2_6"/>
          <p:cNvSpPr txBox="1"/>
          <p:nvPr/>
        </p:nvSpPr>
        <p:spPr>
          <a:xfrm>
            <a:off x="68580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E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bridgeconsult.uz</a:t>
            </a:r>
            <a:endParaRPr lang="en-US" sz="800" dirty="0"/>
          </a:p>
        </p:txBody>
      </p:sp>
      <p:sp>
        <p:nvSpPr>
          <p:cNvPr id="8" name="bc2_7"/>
          <p:cNvSpPr txBox="1"/>
          <p:nvPr/>
        </p:nvSpPr>
        <p:spPr>
          <a:xfrm>
            <a:off x="877824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6E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41.2995° N  ·  69.2401° E</a:t>
            </a:r>
            <a:endParaRPr lang="en-US" sz="800" dirty="0"/>
          </a:p>
        </p:txBody>
      </p:sp>
      <p:sp>
        <p:nvSpPr>
          <p:cNvPr id="9" name="bc2_8"/>
          <p:cNvSpPr/>
          <p:nvPr/>
        </p:nvSpPr>
        <p:spPr>
          <a:xfrm>
            <a:off x="5440680" y="923544"/>
            <a:ext cx="384048" cy="0"/>
          </a:xfrm>
          <a:prstGeom prst="line">
            <a:avLst/>
          </a:prstGeom>
          <a:noFill/>
          <a:ln w="12700">
            <a:solidFill>
              <a:srgbClr val="9B7C56"/>
            </a:solidFill>
            <a:prstDash val="solid"/>
          </a:ln>
        </p:spPr>
      </p:sp>
      <p:sp>
        <p:nvSpPr>
          <p:cNvPr id="10" name="bc2_9"/>
          <p:cNvSpPr txBox="1"/>
          <p:nvPr/>
        </p:nvSpPr>
        <p:spPr>
          <a:xfrm>
            <a:off x="5971032" y="8229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B7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КОМПАНИИ</a:t>
            </a:r>
            <a:endParaRPr lang="en-US" sz="900" dirty="0"/>
          </a:p>
        </p:txBody>
      </p:sp>
      <p:sp>
        <p:nvSpPr>
          <p:cNvPr id="11" name="bc2_10"/>
          <p:cNvSpPr txBox="1"/>
          <p:nvPr/>
        </p:nvSpPr>
        <p:spPr>
          <a:xfrm>
            <a:off x="5422392" y="1188720"/>
            <a:ext cx="6217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1A18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Независимая экспертиза</a:t>
            </a:r>
            <a:endParaRPr lang="en-US" sz="3600" dirty="0"/>
          </a:p>
        </p:txBody>
      </p:sp>
      <p:sp>
        <p:nvSpPr>
          <p:cNvPr id="12" name="bc2_11"/>
          <p:cNvSpPr txBox="1"/>
          <p:nvPr/>
        </p:nvSpPr>
        <p:spPr>
          <a:xfrm>
            <a:off x="5422392" y="1727119"/>
            <a:ext cx="6217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i="1" dirty="0">
                <a:solidFill>
                  <a:srgbClr val="9B7C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для инфраструктуры</a:t>
            </a:r>
            <a:endParaRPr lang="en-US" sz="3600" dirty="0"/>
          </a:p>
        </p:txBody>
      </p:sp>
      <p:sp>
        <p:nvSpPr>
          <p:cNvPr id="13" name="bc2_12"/>
          <p:cNvSpPr txBox="1"/>
          <p:nvPr/>
        </p:nvSpPr>
        <p:spPr>
          <a:xfrm>
            <a:off x="5440680" y="260604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3A34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 Consult — независимая консалтинговая компания, специализирующаяся на контрактном инжиниринге, администрировании строительных контрактов и разрешении споров в международных инфраструктурных проектах.</a:t>
            </a:r>
            <a:endParaRPr lang="en-US" sz="1350" dirty="0"/>
          </a:p>
        </p:txBody>
      </p:sp>
      <p:sp>
        <p:nvSpPr>
          <p:cNvPr id="14" name="bc2_13"/>
          <p:cNvSpPr txBox="1"/>
          <p:nvPr/>
        </p:nvSpPr>
        <p:spPr>
          <a:xfrm>
            <a:off x="5440680" y="39319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E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поддерживаем государственный сектор, международные финансовые институты, инвесторов и подрядчиков — включая проекты, финансируемые международными банками развития.</a:t>
            </a:r>
            <a:endParaRPr lang="en-US" sz="1200" dirty="0"/>
          </a:p>
        </p:txBody>
      </p:sp>
      <p:sp>
        <p:nvSpPr>
          <p:cNvPr id="15" name="bc2_14"/>
          <p:cNvSpPr/>
          <p:nvPr/>
        </p:nvSpPr>
        <p:spPr>
          <a:xfrm>
            <a:off x="5440680" y="4937760"/>
            <a:ext cx="6080760" cy="0"/>
          </a:xfrm>
          <a:prstGeom prst="line">
            <a:avLst/>
          </a:prstGeom>
          <a:noFill/>
          <a:ln w="9525">
            <a:solidFill>
              <a:srgbClr val="D6CCBC"/>
            </a:solidFill>
            <a:prstDash val="solid"/>
          </a:ln>
        </p:spPr>
      </p:sp>
      <p:sp>
        <p:nvSpPr>
          <p:cNvPr id="16" name="bc2_15"/>
          <p:cNvSpPr txBox="1"/>
          <p:nvPr/>
        </p:nvSpPr>
        <p:spPr>
          <a:xfrm>
            <a:off x="5440680" y="512064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9B7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КЛИЕНТЫ</a:t>
            </a:r>
            <a:endParaRPr lang="en-US" sz="850" dirty="0"/>
          </a:p>
        </p:txBody>
      </p:sp>
      <p:sp>
        <p:nvSpPr>
          <p:cNvPr id="17" name="bc2_16"/>
          <p:cNvSpPr txBox="1"/>
          <p:nvPr/>
        </p:nvSpPr>
        <p:spPr>
          <a:xfrm>
            <a:off x="5440680" y="539496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Госсектор, МФИ, инвесторы, подрядчики</a:t>
            </a:r>
            <a:endParaRPr lang="en-US" sz="1200" dirty="0"/>
          </a:p>
        </p:txBody>
      </p:sp>
      <p:sp>
        <p:nvSpPr>
          <p:cNvPr id="18" name="bc2_17"/>
          <p:cNvSpPr txBox="1"/>
          <p:nvPr/>
        </p:nvSpPr>
        <p:spPr>
          <a:xfrm>
            <a:off x="7498080" y="512064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9B7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СТАНДАРТЫ</a:t>
            </a:r>
            <a:endParaRPr lang="en-US" sz="850" dirty="0"/>
          </a:p>
        </p:txBody>
      </p:sp>
      <p:sp>
        <p:nvSpPr>
          <p:cNvPr id="19" name="bc2_18"/>
          <p:cNvSpPr txBox="1"/>
          <p:nvPr/>
        </p:nvSpPr>
        <p:spPr>
          <a:xfrm>
            <a:off x="7498080" y="539496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FIDIC · EPC / EPC+F · MDB Harmonised</a:t>
            </a:r>
            <a:endParaRPr lang="en-US" sz="1200" dirty="0"/>
          </a:p>
        </p:txBody>
      </p:sp>
      <p:sp>
        <p:nvSpPr>
          <p:cNvPr id="20" name="bc2_19"/>
          <p:cNvSpPr txBox="1"/>
          <p:nvPr/>
        </p:nvSpPr>
        <p:spPr>
          <a:xfrm>
            <a:off x="9555480" y="512064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9B7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ГЕОГРАФИЯ</a:t>
            </a:r>
            <a:endParaRPr lang="en-US" sz="850" dirty="0"/>
          </a:p>
        </p:txBody>
      </p:sp>
      <p:sp>
        <p:nvSpPr>
          <p:cNvPr id="21" name="bc2_20"/>
          <p:cNvSpPr txBox="1"/>
          <p:nvPr/>
        </p:nvSpPr>
        <p:spPr>
          <a:xfrm>
            <a:off x="9555480" y="539496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Узбекистан и Центральная Азия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600" fill="hold" decel="10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600" fill="hold" decel="10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17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2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200" fill="hold" decel="10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9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9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9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29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9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9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9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9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9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  <p:bldP spid="7" grpId="0"/>
      <p:bldP spid="8" grpId="0"/>
      <p:bldP spid="9" grpId="0" animBg="1"/>
      <p:bldP spid="10" grpId="0"/>
      <p:bldP spid="11" grpId="0"/>
      <p:bldP spid="12" grpId="0"/>
      <p:bldP spid="13" grpId="0"/>
      <p:bldP spid="14" grpId="0"/>
      <p:bldP spid="15" grpId="0" animBg="1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c3_1" descr="/home/user/bridge-astro/presentation/company-2026/assets/sta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c3_2"/>
          <p:cNvSpPr txBox="1"/>
          <p:nvPr/>
        </p:nvSpPr>
        <p:spPr>
          <a:xfrm>
            <a:off x="9692640" y="4389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pPr algn="r" indent="0" marL="0">
              <a:buNone/>
            </a:pPr>
            <a:r>
              <a:rPr lang="en-US" sz="900" b="1" spc="200" kern="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10</a:t>
            </a:r>
            <a:endParaRPr lang="en-US" sz="900" dirty="0"/>
          </a:p>
        </p:txBody>
      </p:sp>
      <p:sp>
        <p:nvSpPr>
          <p:cNvPr id="4" name="bc3_3"/>
          <p:cNvSpPr txBox="1"/>
          <p:nvPr/>
        </p:nvSpPr>
        <p:spPr>
          <a:xfrm>
            <a:off x="68580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bridgeconsult.uz</a:t>
            </a:r>
            <a:endParaRPr lang="en-US" sz="800" dirty="0"/>
          </a:p>
        </p:txBody>
      </p:sp>
      <p:sp>
        <p:nvSpPr>
          <p:cNvPr id="5" name="bc3_4"/>
          <p:cNvSpPr txBox="1"/>
          <p:nvPr/>
        </p:nvSpPr>
        <p:spPr>
          <a:xfrm>
            <a:off x="877824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41.2995° N  ·  69.2401° E</a:t>
            </a:r>
            <a:endParaRPr lang="en-US" sz="800" dirty="0"/>
          </a:p>
        </p:txBody>
      </p:sp>
      <p:sp>
        <p:nvSpPr>
          <p:cNvPr id="6" name="bc3_5"/>
          <p:cNvSpPr/>
          <p:nvPr/>
        </p:nvSpPr>
        <p:spPr>
          <a:xfrm>
            <a:off x="685800" y="923544"/>
            <a:ext cx="384048" cy="0"/>
          </a:xfrm>
          <a:prstGeom prst="line">
            <a:avLst/>
          </a:prstGeom>
          <a:noFill/>
          <a:ln w="12700">
            <a:solidFill>
              <a:srgbClr val="D8BD96"/>
            </a:solidFill>
            <a:prstDash val="solid"/>
          </a:ln>
        </p:spPr>
      </p:sp>
      <p:sp>
        <p:nvSpPr>
          <p:cNvPr id="7" name="bc3_6"/>
          <p:cNvSpPr txBox="1"/>
          <p:nvPr/>
        </p:nvSpPr>
        <p:spPr>
          <a:xfrm>
            <a:off x="1216152" y="8229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D8BD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</a:t>
            </a:r>
            <a:endParaRPr lang="en-US" sz="900" dirty="0"/>
          </a:p>
        </p:txBody>
      </p:sp>
      <p:sp>
        <p:nvSpPr>
          <p:cNvPr id="8" name="bc3_7"/>
          <p:cNvSpPr txBox="1"/>
          <p:nvPr/>
        </p:nvSpPr>
        <p:spPr>
          <a:xfrm>
            <a:off x="667512" y="1188720"/>
            <a:ext cx="6858000" cy="65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Опыт, подтверждённый</a:t>
            </a:r>
            <a:endParaRPr lang="en-US" sz="4000" dirty="0"/>
          </a:p>
        </p:txBody>
      </p:sp>
      <p:sp>
        <p:nvSpPr>
          <p:cNvPr id="9" name="bc3_8"/>
          <p:cNvSpPr txBox="1"/>
          <p:nvPr/>
        </p:nvSpPr>
        <p:spPr>
          <a:xfrm>
            <a:off x="667512" y="1786941"/>
            <a:ext cx="6858000" cy="65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i="1" dirty="0">
                <a:solidFill>
                  <a:srgbClr val="D8BD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проектами</a:t>
            </a:r>
            <a:endParaRPr lang="en-US" sz="4000" dirty="0"/>
          </a:p>
        </p:txBody>
      </p:sp>
      <p:sp>
        <p:nvSpPr>
          <p:cNvPr id="10" name="bc3_9"/>
          <p:cNvSpPr txBox="1"/>
          <p:nvPr/>
        </p:nvSpPr>
        <p:spPr>
          <a:xfrm>
            <a:off x="7818120" y="129844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каждой цифрой — реальные контракты, претензии и решения на объектах национального масштаба.</a:t>
            </a:r>
            <a:endParaRPr lang="en-US" sz="1250" dirty="0"/>
          </a:p>
        </p:txBody>
      </p:sp>
      <p:sp>
        <p:nvSpPr>
          <p:cNvPr id="11" name="bc3_10"/>
          <p:cNvSpPr/>
          <p:nvPr/>
        </p:nvSpPr>
        <p:spPr>
          <a:xfrm>
            <a:off x="685800" y="3429000"/>
            <a:ext cx="2468880" cy="0"/>
          </a:xfrm>
          <a:prstGeom prst="line">
            <a:avLst/>
          </a:prstGeom>
          <a:noFill/>
          <a:ln w="9525">
            <a:solidFill>
              <a:srgbClr val="D8BD96"/>
            </a:solidFill>
            <a:prstDash val="solid"/>
          </a:ln>
        </p:spPr>
      </p:sp>
      <p:sp>
        <p:nvSpPr>
          <p:cNvPr id="12" name="bc3_11"/>
          <p:cNvSpPr txBox="1"/>
          <p:nvPr/>
        </p:nvSpPr>
        <p:spPr>
          <a:xfrm>
            <a:off x="658368" y="36118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pPr indent="0" marL="0">
              <a:buNone/>
            </a:pPr>
            <a:r>
              <a:rPr lang="en-US" sz="7600" i="1" dirty="0">
                <a:solidFill>
                  <a:srgbClr val="D8BD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7600" dirty="0"/>
          </a:p>
        </p:txBody>
      </p:sp>
      <p:sp>
        <p:nvSpPr>
          <p:cNvPr id="13" name="bc3_12"/>
          <p:cNvSpPr txBox="1"/>
          <p:nvPr/>
        </p:nvSpPr>
        <p:spPr>
          <a:xfrm>
            <a:off x="685800" y="48920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лет на рынке</a:t>
            </a:r>
            <a:endParaRPr lang="en-US" sz="1300" dirty="0"/>
          </a:p>
        </p:txBody>
      </p:sp>
      <p:sp>
        <p:nvSpPr>
          <p:cNvPr id="14" name="bc3_13"/>
          <p:cNvSpPr txBox="1"/>
          <p:nvPr/>
        </p:nvSpPr>
        <p:spPr>
          <a:xfrm>
            <a:off x="685800" y="523036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Компания основана в 2016 году в Ташкенте</a:t>
            </a:r>
            <a:endParaRPr lang="en-US" sz="1050" dirty="0"/>
          </a:p>
        </p:txBody>
      </p:sp>
      <p:sp>
        <p:nvSpPr>
          <p:cNvPr id="15" name="bc3_14"/>
          <p:cNvSpPr/>
          <p:nvPr/>
        </p:nvSpPr>
        <p:spPr>
          <a:xfrm>
            <a:off x="3429000" y="3429000"/>
            <a:ext cx="2468880" cy="0"/>
          </a:xfrm>
          <a:prstGeom prst="line">
            <a:avLst/>
          </a:prstGeom>
          <a:noFill/>
          <a:ln w="9525">
            <a:solidFill>
              <a:srgbClr val="D8BD96"/>
            </a:solidFill>
            <a:prstDash val="solid"/>
          </a:ln>
        </p:spPr>
      </p:sp>
      <p:sp>
        <p:nvSpPr>
          <p:cNvPr id="16" name="bc3_15"/>
          <p:cNvSpPr txBox="1"/>
          <p:nvPr/>
        </p:nvSpPr>
        <p:spPr>
          <a:xfrm>
            <a:off x="3401568" y="36118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pPr indent="0" marL="0">
              <a:buNone/>
            </a:pPr>
            <a:r>
              <a:rPr lang="en-US" sz="7600" i="1" dirty="0">
                <a:solidFill>
                  <a:srgbClr val="D8BD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7600" dirty="0"/>
          </a:p>
        </p:txBody>
      </p:sp>
      <p:sp>
        <p:nvSpPr>
          <p:cNvPr id="17" name="bc3_16"/>
          <p:cNvSpPr txBox="1"/>
          <p:nvPr/>
        </p:nvSpPr>
        <p:spPr>
          <a:xfrm>
            <a:off x="3429000" y="48920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крупных проектов</a:t>
            </a:r>
            <a:endParaRPr lang="en-US" sz="1300" dirty="0"/>
          </a:p>
        </p:txBody>
      </p:sp>
      <p:sp>
        <p:nvSpPr>
          <p:cNvPr id="18" name="bc3_17"/>
          <p:cNvSpPr txBox="1"/>
          <p:nvPr/>
        </p:nvSpPr>
        <p:spPr>
          <a:xfrm>
            <a:off x="3429000" y="523036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Дороги, водоснабжение, энергетика, городская среда</a:t>
            </a:r>
            <a:endParaRPr lang="en-US" sz="1050" dirty="0"/>
          </a:p>
        </p:txBody>
      </p:sp>
      <p:sp>
        <p:nvSpPr>
          <p:cNvPr id="19" name="bc3_18"/>
          <p:cNvSpPr/>
          <p:nvPr/>
        </p:nvSpPr>
        <p:spPr>
          <a:xfrm>
            <a:off x="6172200" y="3429000"/>
            <a:ext cx="2468880" cy="0"/>
          </a:xfrm>
          <a:prstGeom prst="line">
            <a:avLst/>
          </a:prstGeom>
          <a:noFill/>
          <a:ln w="9525">
            <a:solidFill>
              <a:srgbClr val="D8BD96"/>
            </a:solidFill>
            <a:prstDash val="solid"/>
          </a:ln>
        </p:spPr>
      </p:sp>
      <p:sp>
        <p:nvSpPr>
          <p:cNvPr id="20" name="bc3_19"/>
          <p:cNvSpPr txBox="1"/>
          <p:nvPr/>
        </p:nvSpPr>
        <p:spPr>
          <a:xfrm>
            <a:off x="6144768" y="36118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</a:t>
            </a:r>
            <a:pPr indent="0" marL="0">
              <a:buNone/>
            </a:pPr>
            <a:endParaRPr lang="en-US" sz="7600" dirty="0"/>
          </a:p>
        </p:txBody>
      </p:sp>
      <p:sp>
        <p:nvSpPr>
          <p:cNvPr id="21" name="bc3_20"/>
          <p:cNvSpPr txBox="1"/>
          <p:nvPr/>
        </p:nvSpPr>
        <p:spPr>
          <a:xfrm>
            <a:off x="6172200" y="48920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лет опыта основателя</a:t>
            </a:r>
            <a:endParaRPr lang="en-US" sz="1300" dirty="0"/>
          </a:p>
        </p:txBody>
      </p:sp>
      <p:sp>
        <p:nvSpPr>
          <p:cNvPr id="22" name="bc3_21"/>
          <p:cNvSpPr txBox="1"/>
          <p:nvPr/>
        </p:nvSpPr>
        <p:spPr>
          <a:xfrm>
            <a:off x="6172200" y="523036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них более 15 лет — контракты FIDIC и проекты МФИ</a:t>
            </a:r>
            <a:endParaRPr lang="en-US" sz="1050" dirty="0"/>
          </a:p>
        </p:txBody>
      </p:sp>
      <p:sp>
        <p:nvSpPr>
          <p:cNvPr id="23" name="bc3_22"/>
          <p:cNvSpPr/>
          <p:nvPr/>
        </p:nvSpPr>
        <p:spPr>
          <a:xfrm>
            <a:off x="8915400" y="3429000"/>
            <a:ext cx="2468880" cy="0"/>
          </a:xfrm>
          <a:prstGeom prst="line">
            <a:avLst/>
          </a:prstGeom>
          <a:noFill/>
          <a:ln w="9525">
            <a:solidFill>
              <a:srgbClr val="D8BD96"/>
            </a:solidFill>
            <a:prstDash val="solid"/>
          </a:ln>
        </p:spPr>
      </p:sp>
      <p:sp>
        <p:nvSpPr>
          <p:cNvPr id="24" name="bc3_23"/>
          <p:cNvSpPr txBox="1"/>
          <p:nvPr/>
        </p:nvSpPr>
        <p:spPr>
          <a:xfrm>
            <a:off x="8887968" y="36118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</a:t>
            </a:r>
            <a:pPr indent="0" marL="0">
              <a:buNone/>
            </a:pPr>
            <a:r>
              <a:rPr lang="en-US" sz="7600" i="1" dirty="0">
                <a:solidFill>
                  <a:srgbClr val="D8BD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7600" dirty="0"/>
          </a:p>
        </p:txBody>
      </p:sp>
      <p:sp>
        <p:nvSpPr>
          <p:cNvPr id="25" name="bc3_24"/>
          <p:cNvSpPr txBox="1"/>
          <p:nvPr/>
        </p:nvSpPr>
        <p:spPr>
          <a:xfrm>
            <a:off x="8915400" y="48920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стороне клиента</a:t>
            </a:r>
            <a:endParaRPr lang="en-US" sz="1300" dirty="0"/>
          </a:p>
        </p:txBody>
      </p:sp>
      <p:sp>
        <p:nvSpPr>
          <p:cNvPr id="26" name="bc3_25"/>
          <p:cNvSpPr txBox="1"/>
          <p:nvPr/>
        </p:nvSpPr>
        <p:spPr>
          <a:xfrm>
            <a:off x="8915400" y="523036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сметного аудита до арбитража</a:t>
            </a:r>
            <a:endParaRPr lang="en-US" sz="10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 decel="10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 decel="10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1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1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1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1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1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11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11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6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8" fill="hold" grpId="0" nodeType="withEffect">
                                  <p:stCondLst>
                                    <p:cond delay="141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51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1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11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110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81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 animBg="1"/>
      <p:bldP spid="7" grpId="0"/>
      <p:bldP spid="8" grpId="0"/>
      <p:bldP spid="9" grpId="0"/>
      <p:bldP spid="10" grpId="0"/>
      <p:bldP spid="11" grpId="0" animBg="1"/>
      <p:bldP spid="12" grpId="0"/>
      <p:bldP spid="13" grpId="0"/>
      <p:bldP spid="14" grpId="0"/>
      <p:bldP spid="15" grpId="0" animBg="1"/>
      <p:bldP spid="16" grpId="0"/>
      <p:bldP spid="17" grpId="0"/>
      <p:bldP spid="18" grpId="0"/>
      <p:bldP spid="19" grpId="0" animBg="1"/>
      <p:bldP spid="20" grpId="0"/>
      <p:bldP spid="21" grpId="0"/>
      <p:bldP spid="22" grpId="0"/>
      <p:bldP spid="23" grpId="0" animBg="1"/>
      <p:bldP spid="24" grpId="0"/>
      <p:bldP spid="25" grpId="0"/>
      <p:bldP spid="2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c4_1"/>
          <p:cNvSpPr txBox="1"/>
          <p:nvPr/>
        </p:nvSpPr>
        <p:spPr>
          <a:xfrm>
            <a:off x="9692640" y="4389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pPr algn="r" indent="0" marL="0">
              <a:buNone/>
            </a:pPr>
            <a:r>
              <a:rPr lang="en-US" sz="900" b="1" spc="200" kern="0" dirty="0">
                <a:solidFill>
                  <a:srgbClr val="6E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10</a:t>
            </a:r>
            <a:endParaRPr lang="en-US" sz="900" dirty="0"/>
          </a:p>
        </p:txBody>
      </p:sp>
      <p:sp>
        <p:nvSpPr>
          <p:cNvPr id="3" name="bc4_2"/>
          <p:cNvSpPr txBox="1"/>
          <p:nvPr/>
        </p:nvSpPr>
        <p:spPr>
          <a:xfrm>
            <a:off x="68580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E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bridgeconsult.uz</a:t>
            </a:r>
            <a:endParaRPr lang="en-US" sz="800" dirty="0"/>
          </a:p>
        </p:txBody>
      </p:sp>
      <p:sp>
        <p:nvSpPr>
          <p:cNvPr id="4" name="bc4_3"/>
          <p:cNvSpPr txBox="1"/>
          <p:nvPr/>
        </p:nvSpPr>
        <p:spPr>
          <a:xfrm>
            <a:off x="877824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6E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41.2995° N  ·  69.2401° E</a:t>
            </a:r>
            <a:endParaRPr lang="en-US" sz="800" dirty="0"/>
          </a:p>
        </p:txBody>
      </p:sp>
      <p:sp>
        <p:nvSpPr>
          <p:cNvPr id="5" name="bc4_4"/>
          <p:cNvSpPr/>
          <p:nvPr/>
        </p:nvSpPr>
        <p:spPr>
          <a:xfrm>
            <a:off x="685800" y="923544"/>
            <a:ext cx="384048" cy="0"/>
          </a:xfrm>
          <a:prstGeom prst="line">
            <a:avLst/>
          </a:prstGeom>
          <a:noFill/>
          <a:ln w="12700">
            <a:solidFill>
              <a:srgbClr val="9B7C56"/>
            </a:solidFill>
            <a:prstDash val="solid"/>
          </a:ln>
        </p:spPr>
      </p:sp>
      <p:sp>
        <p:nvSpPr>
          <p:cNvPr id="6" name="bc4_5"/>
          <p:cNvSpPr txBox="1"/>
          <p:nvPr/>
        </p:nvSpPr>
        <p:spPr>
          <a:xfrm>
            <a:off x="1216152" y="8229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B7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УСЛУГИ</a:t>
            </a:r>
            <a:endParaRPr lang="en-US" sz="900" dirty="0"/>
          </a:p>
        </p:txBody>
      </p:sp>
      <p:sp>
        <p:nvSpPr>
          <p:cNvPr id="7" name="bc4_6"/>
          <p:cNvSpPr txBox="1"/>
          <p:nvPr/>
        </p:nvSpPr>
        <p:spPr>
          <a:xfrm>
            <a:off x="667512" y="1188720"/>
            <a:ext cx="4023360" cy="55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A18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Четыре</a:t>
            </a:r>
            <a:endParaRPr lang="en-US" sz="3400" dirty="0"/>
          </a:p>
        </p:txBody>
      </p:sp>
      <p:sp>
        <p:nvSpPr>
          <p:cNvPr id="8" name="bc4_7"/>
          <p:cNvSpPr txBox="1"/>
          <p:nvPr/>
        </p:nvSpPr>
        <p:spPr>
          <a:xfrm>
            <a:off x="667512" y="1697208"/>
            <a:ext cx="4023360" cy="55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i="1" dirty="0">
                <a:solidFill>
                  <a:srgbClr val="9B7C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направления</a:t>
            </a:r>
            <a:endParaRPr lang="en-US" sz="3400" dirty="0"/>
          </a:p>
        </p:txBody>
      </p:sp>
      <p:sp>
        <p:nvSpPr>
          <p:cNvPr id="9" name="bc4_8"/>
          <p:cNvSpPr txBox="1"/>
          <p:nvPr/>
        </p:nvSpPr>
        <p:spPr>
          <a:xfrm>
            <a:off x="685800" y="2514600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E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Полный цикл сопровождения инфраструктурного контракта — от тендерной стратегии до защиты позиции в арбитраже.</a:t>
            </a:r>
            <a:endParaRPr lang="en-US" sz="1200" dirty="0"/>
          </a:p>
        </p:txBody>
      </p:sp>
      <p:pic>
        <p:nvPicPr>
          <p:cNvPr id="10" name="bc4_9" descr="/home/user/bridge-astro/presentation/company-2026/assets/sv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840480"/>
            <a:ext cx="3383280" cy="2255520"/>
          </a:xfrm>
          <a:prstGeom prst="rect">
            <a:avLst/>
          </a:prstGeom>
        </p:spPr>
      </p:pic>
      <p:sp>
        <p:nvSpPr>
          <p:cNvPr id="11" name="bc4_10"/>
          <p:cNvSpPr/>
          <p:nvPr/>
        </p:nvSpPr>
        <p:spPr>
          <a:xfrm>
            <a:off x="4526280" y="822960"/>
            <a:ext cx="3383280" cy="2514600"/>
          </a:xfrm>
          <a:prstGeom prst="rect">
            <a:avLst/>
          </a:prstGeom>
          <a:solidFill>
            <a:srgbClr val="FBF8F2"/>
          </a:solidFill>
          <a:ln/>
          <a:effectLst>
            <a:outerShdw sx="100000" sy="100000" kx="0" ky="0" algn="bl" rotWithShape="0" blurRad="228600" dist="50800" dir="5400000">
              <a:srgbClr val="3A2E20">
                <a:alpha val="10000"/>
              </a:srgbClr>
            </a:outerShdw>
          </a:effectLst>
        </p:spPr>
      </p:sp>
      <p:sp>
        <p:nvSpPr>
          <p:cNvPr id="12" name="bc4_11"/>
          <p:cNvSpPr txBox="1"/>
          <p:nvPr/>
        </p:nvSpPr>
        <p:spPr>
          <a:xfrm>
            <a:off x="4846320" y="10972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9B7C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13" name="bc4_12"/>
          <p:cNvSpPr txBox="1"/>
          <p:nvPr/>
        </p:nvSpPr>
        <p:spPr>
          <a:xfrm>
            <a:off x="5989320" y="118872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spc="200" kern="0" dirty="0">
                <a:solidFill>
                  <a:srgbClr val="8A7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FIDIC / EPC</a:t>
            </a:r>
            <a:endParaRPr lang="en-US" sz="750" dirty="0"/>
          </a:p>
        </p:txBody>
      </p:sp>
      <p:sp>
        <p:nvSpPr>
          <p:cNvPr id="14" name="bc4_13"/>
          <p:cNvSpPr txBox="1"/>
          <p:nvPr/>
        </p:nvSpPr>
        <p:spPr>
          <a:xfrm>
            <a:off x="4846320" y="16276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Контрактный инжиниринг</a:t>
            </a:r>
            <a:endParaRPr lang="en-US" sz="1450" dirty="0"/>
          </a:p>
        </p:txBody>
      </p:sp>
      <p:sp>
        <p:nvSpPr>
          <p:cNvPr id="15" name="bc4_14"/>
          <p:cNvSpPr txBox="1"/>
          <p:nvPr/>
        </p:nvSpPr>
        <p:spPr>
          <a:xfrm>
            <a:off x="4846320" y="212140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—"/>
            </a:pPr>
            <a:r>
              <a:rPr lang="en-US" sz="1050" dirty="0">
                <a:solidFill>
                  <a:srgbClr val="3A34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Тендерная документация и тендерный инжиниринг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—"/>
            </a:pPr>
            <a:r>
              <a:rPr lang="en-US" sz="1050" dirty="0">
                <a:solidFill>
                  <a:srgbClr val="3A34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и адаптация контрактов FIDIC и EPC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—"/>
            </a:pPr>
            <a:r>
              <a:rPr lang="en-US" sz="1050" dirty="0">
                <a:solidFill>
                  <a:srgbClr val="3A34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 контрактной стратегии</a:t>
            </a:r>
            <a:endParaRPr lang="en-US" sz="1050" dirty="0"/>
          </a:p>
        </p:txBody>
      </p:sp>
      <p:sp>
        <p:nvSpPr>
          <p:cNvPr id="16" name="bc4_15"/>
          <p:cNvSpPr/>
          <p:nvPr/>
        </p:nvSpPr>
        <p:spPr>
          <a:xfrm>
            <a:off x="8138160" y="822960"/>
            <a:ext cx="3383280" cy="2514600"/>
          </a:xfrm>
          <a:prstGeom prst="rect">
            <a:avLst/>
          </a:prstGeom>
          <a:solidFill>
            <a:srgbClr val="FBF8F2"/>
          </a:solidFill>
          <a:ln/>
          <a:effectLst>
            <a:outerShdw sx="100000" sy="100000" kx="0" ky="0" algn="bl" rotWithShape="0" blurRad="228600" dist="50800" dir="5400000">
              <a:srgbClr val="3A2E20">
                <a:alpha val="10000"/>
              </a:srgbClr>
            </a:outerShdw>
          </a:effectLst>
        </p:spPr>
      </p:sp>
      <p:sp>
        <p:nvSpPr>
          <p:cNvPr id="17" name="bc4_16"/>
          <p:cNvSpPr txBox="1"/>
          <p:nvPr/>
        </p:nvSpPr>
        <p:spPr>
          <a:xfrm>
            <a:off x="8458200" y="10972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9B7C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8" name="bc4_17"/>
          <p:cNvSpPr txBox="1"/>
          <p:nvPr/>
        </p:nvSpPr>
        <p:spPr>
          <a:xfrm>
            <a:off x="9601200" y="118872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spc="200" kern="0" dirty="0">
                <a:solidFill>
                  <a:srgbClr val="8A7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 · RISKS</a:t>
            </a:r>
            <a:endParaRPr lang="en-US" sz="750" dirty="0"/>
          </a:p>
        </p:txBody>
      </p:sp>
      <p:sp>
        <p:nvSpPr>
          <p:cNvPr id="19" name="bc4_18"/>
          <p:cNvSpPr txBox="1"/>
          <p:nvPr/>
        </p:nvSpPr>
        <p:spPr>
          <a:xfrm>
            <a:off x="8458200" y="16276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Управление контрактами</a:t>
            </a:r>
            <a:endParaRPr lang="en-US" sz="1450" dirty="0"/>
          </a:p>
        </p:txBody>
      </p:sp>
      <p:sp>
        <p:nvSpPr>
          <p:cNvPr id="20" name="bc4_19"/>
          <p:cNvSpPr txBox="1"/>
          <p:nvPr/>
        </p:nvSpPr>
        <p:spPr>
          <a:xfrm>
            <a:off x="8458200" y="212140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—"/>
            </a:pPr>
            <a:r>
              <a:rPr lang="en-US" sz="1050" dirty="0">
                <a:solidFill>
                  <a:srgbClr val="3A34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Управление претензиями (claims)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—"/>
            </a:pPr>
            <a:r>
              <a:rPr lang="en-US" sz="1050" dirty="0">
                <a:solidFill>
                  <a:srgbClr val="3A34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Управление рисками и изменениями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—"/>
            </a:pPr>
            <a:r>
              <a:rPr lang="en-US" sz="1050" dirty="0">
                <a:solidFill>
                  <a:srgbClr val="3A34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Контроль бюджета, закупок и качества</a:t>
            </a:r>
            <a:endParaRPr lang="en-US" sz="1050" dirty="0"/>
          </a:p>
        </p:txBody>
      </p:sp>
      <p:sp>
        <p:nvSpPr>
          <p:cNvPr id="21" name="bc4_20"/>
          <p:cNvSpPr/>
          <p:nvPr/>
        </p:nvSpPr>
        <p:spPr>
          <a:xfrm>
            <a:off x="4526280" y="3566160"/>
            <a:ext cx="3383280" cy="2514600"/>
          </a:xfrm>
          <a:prstGeom prst="rect">
            <a:avLst/>
          </a:prstGeom>
          <a:solidFill>
            <a:srgbClr val="FBF8F2"/>
          </a:solidFill>
          <a:ln/>
          <a:effectLst>
            <a:outerShdw sx="100000" sy="100000" kx="0" ky="0" algn="bl" rotWithShape="0" blurRad="228600" dist="50800" dir="5400000">
              <a:srgbClr val="3A2E20">
                <a:alpha val="10000"/>
              </a:srgbClr>
            </a:outerShdw>
          </a:effectLst>
        </p:spPr>
      </p:sp>
      <p:sp>
        <p:nvSpPr>
          <p:cNvPr id="22" name="bc4_21"/>
          <p:cNvSpPr txBox="1"/>
          <p:nvPr/>
        </p:nvSpPr>
        <p:spPr>
          <a:xfrm>
            <a:off x="4846320" y="38404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9B7C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3" name="bc4_22"/>
          <p:cNvSpPr txBox="1"/>
          <p:nvPr/>
        </p:nvSpPr>
        <p:spPr>
          <a:xfrm>
            <a:off x="5989320" y="393192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spc="200" kern="0" dirty="0">
                <a:solidFill>
                  <a:srgbClr val="8A7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DAAB · ADR</a:t>
            </a:r>
            <a:endParaRPr lang="en-US" sz="750" dirty="0"/>
          </a:p>
        </p:txBody>
      </p:sp>
      <p:sp>
        <p:nvSpPr>
          <p:cNvPr id="24" name="bc4_23"/>
          <p:cNvSpPr txBox="1"/>
          <p:nvPr/>
        </p:nvSpPr>
        <p:spPr>
          <a:xfrm>
            <a:off x="4846320" y="43708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Споры и арбитраж</a:t>
            </a:r>
            <a:endParaRPr lang="en-US" sz="1450" dirty="0"/>
          </a:p>
        </p:txBody>
      </p:sp>
      <p:sp>
        <p:nvSpPr>
          <p:cNvPr id="25" name="bc4_24"/>
          <p:cNvSpPr txBox="1"/>
          <p:nvPr/>
        </p:nvSpPr>
        <p:spPr>
          <a:xfrm>
            <a:off x="4846320" y="486460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—"/>
            </a:pPr>
            <a:r>
              <a:rPr lang="en-US" sz="1050" dirty="0">
                <a:solidFill>
                  <a:srgbClr val="3A34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Советы по урегулированию споров DAAB / DAB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—"/>
            </a:pPr>
            <a:r>
              <a:rPr lang="en-US" sz="1050" dirty="0">
                <a:solidFill>
                  <a:srgbClr val="3A34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Медиация и внесудебное урегулирование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—"/>
            </a:pPr>
            <a:r>
              <a:rPr lang="en-US" sz="1050" dirty="0">
                <a:solidFill>
                  <a:srgbClr val="3A34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Экспертная поддержка в арбитраже</a:t>
            </a:r>
            <a:endParaRPr lang="en-US" sz="1050" dirty="0"/>
          </a:p>
        </p:txBody>
      </p:sp>
      <p:sp>
        <p:nvSpPr>
          <p:cNvPr id="26" name="bc4_25"/>
          <p:cNvSpPr/>
          <p:nvPr/>
        </p:nvSpPr>
        <p:spPr>
          <a:xfrm>
            <a:off x="8138160" y="3566160"/>
            <a:ext cx="3383280" cy="2514600"/>
          </a:xfrm>
          <a:prstGeom prst="rect">
            <a:avLst/>
          </a:prstGeom>
          <a:solidFill>
            <a:srgbClr val="FBF8F2"/>
          </a:solidFill>
          <a:ln/>
          <a:effectLst>
            <a:outerShdw sx="100000" sy="100000" kx="0" ky="0" algn="bl" rotWithShape="0" blurRad="228600" dist="50800" dir="5400000">
              <a:srgbClr val="3A2E20">
                <a:alpha val="10000"/>
              </a:srgbClr>
            </a:outerShdw>
          </a:effectLst>
        </p:spPr>
      </p:sp>
      <p:sp>
        <p:nvSpPr>
          <p:cNvPr id="27" name="bc4_26"/>
          <p:cNvSpPr txBox="1"/>
          <p:nvPr/>
        </p:nvSpPr>
        <p:spPr>
          <a:xfrm>
            <a:off x="8458200" y="38404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9B7C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8" name="bc4_27"/>
          <p:cNvSpPr txBox="1"/>
          <p:nvPr/>
        </p:nvSpPr>
        <p:spPr>
          <a:xfrm>
            <a:off x="9601200" y="393192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spc="200" kern="0" dirty="0">
                <a:solidFill>
                  <a:srgbClr val="8A7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 · QUANTUM</a:t>
            </a:r>
            <a:endParaRPr lang="en-US" sz="750" dirty="0"/>
          </a:p>
        </p:txBody>
      </p:sp>
      <p:sp>
        <p:nvSpPr>
          <p:cNvPr id="29" name="bc4_28"/>
          <p:cNvSpPr txBox="1"/>
          <p:nvPr/>
        </p:nvSpPr>
        <p:spPr>
          <a:xfrm>
            <a:off x="8458200" y="43708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Аналитика и обучение</a:t>
            </a:r>
            <a:endParaRPr lang="en-US" sz="1450" dirty="0"/>
          </a:p>
        </p:txBody>
      </p:sp>
      <p:sp>
        <p:nvSpPr>
          <p:cNvPr id="30" name="bc4_29"/>
          <p:cNvSpPr txBox="1"/>
          <p:nvPr/>
        </p:nvSpPr>
        <p:spPr>
          <a:xfrm>
            <a:off x="8458200" y="486460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—"/>
            </a:pPr>
            <a:r>
              <a:rPr lang="en-US" sz="1050" dirty="0">
                <a:solidFill>
                  <a:srgbClr val="3A34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Delay Analysis и расчёт Quantum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—"/>
            </a:pPr>
            <a:r>
              <a:rPr lang="en-US" sz="1050" dirty="0">
                <a:solidFill>
                  <a:srgbClr val="3A34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Адаптация к законодательству РУз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—"/>
            </a:pPr>
            <a:r>
              <a:rPr lang="en-US" sz="1050" dirty="0">
                <a:solidFill>
                  <a:srgbClr val="3A34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Семинары и корпоративное обучение</a:t>
            </a:r>
            <a:endParaRPr lang="en-US" sz="10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2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2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1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0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8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100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153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15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8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 animBg="1"/>
      <p:bldP spid="6" grpId="0"/>
      <p:bldP spid="7" grpId="0"/>
      <p:bldP spid="8" grpId="0"/>
      <p:bldP spid="9" grpId="0"/>
      <p:bldP spid="11" grpId="0" animBg="1"/>
      <p:bldP spid="12" grpId="0"/>
      <p:bldP spid="13" grpId="0"/>
      <p:bldP spid="14" grpId="0"/>
      <p:bldP spid="15" grpId="0"/>
      <p:bldP spid="16" grpId="0" animBg="1"/>
      <p:bldP spid="17" grpId="0"/>
      <p:bldP spid="18" grpId="0"/>
      <p:bldP spid="19" grpId="0"/>
      <p:bldP spid="20" grpId="0"/>
      <p:bldP spid="21" grpId="0" animBg="1"/>
      <p:bldP spid="22" grpId="0"/>
      <p:bldP spid="23" grpId="0"/>
      <p:bldP spid="24" grpId="0"/>
      <p:bldP spid="25" grpId="0"/>
      <p:bldP spid="26" grpId="0" animBg="1"/>
      <p:bldP spid="27" grpId="0"/>
      <p:bldP spid="28" grpId="0"/>
      <p:bldP spid="29" grpId="0"/>
      <p:bldP spid="3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c5_1" descr="/home/user/bridge-astro/presentation/company-2026/assets/fid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c5_2"/>
          <p:cNvSpPr txBox="1"/>
          <p:nvPr/>
        </p:nvSpPr>
        <p:spPr>
          <a:xfrm>
            <a:off x="9692640" y="4389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pPr algn="r" indent="0" marL="0">
              <a:buNone/>
            </a:pPr>
            <a:r>
              <a:rPr lang="en-US" sz="900" b="1" spc="200" kern="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10</a:t>
            </a:r>
            <a:endParaRPr lang="en-US" sz="900" dirty="0"/>
          </a:p>
        </p:txBody>
      </p:sp>
      <p:sp>
        <p:nvSpPr>
          <p:cNvPr id="4" name="bc5_3"/>
          <p:cNvSpPr txBox="1"/>
          <p:nvPr/>
        </p:nvSpPr>
        <p:spPr>
          <a:xfrm>
            <a:off x="68580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bridgeconsult.uz</a:t>
            </a:r>
            <a:endParaRPr lang="en-US" sz="800" dirty="0"/>
          </a:p>
        </p:txBody>
      </p:sp>
      <p:sp>
        <p:nvSpPr>
          <p:cNvPr id="5" name="bc5_4"/>
          <p:cNvSpPr txBox="1"/>
          <p:nvPr/>
        </p:nvSpPr>
        <p:spPr>
          <a:xfrm>
            <a:off x="877824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41.2995° N  ·  69.2401° E</a:t>
            </a:r>
            <a:endParaRPr lang="en-US" sz="800" dirty="0"/>
          </a:p>
        </p:txBody>
      </p:sp>
      <p:sp>
        <p:nvSpPr>
          <p:cNvPr id="6" name="bc5_5"/>
          <p:cNvSpPr/>
          <p:nvPr/>
        </p:nvSpPr>
        <p:spPr>
          <a:xfrm>
            <a:off x="685800" y="923544"/>
            <a:ext cx="384048" cy="0"/>
          </a:xfrm>
          <a:prstGeom prst="line">
            <a:avLst/>
          </a:prstGeom>
          <a:noFill/>
          <a:ln w="12700">
            <a:solidFill>
              <a:srgbClr val="D8BD96"/>
            </a:solidFill>
            <a:prstDash val="solid"/>
          </a:ln>
        </p:spPr>
      </p:sp>
      <p:sp>
        <p:nvSpPr>
          <p:cNvPr id="7" name="bc5_6"/>
          <p:cNvSpPr txBox="1"/>
          <p:nvPr/>
        </p:nvSpPr>
        <p:spPr>
          <a:xfrm>
            <a:off x="1216152" y="8229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D8BD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ЭКСПЕРТИЗА FIDIC</a:t>
            </a:r>
            <a:endParaRPr lang="en-US" sz="900" dirty="0"/>
          </a:p>
        </p:txBody>
      </p:sp>
      <p:sp>
        <p:nvSpPr>
          <p:cNvPr id="8" name="bc5_7"/>
          <p:cNvSpPr txBox="1"/>
          <p:nvPr/>
        </p:nvSpPr>
        <p:spPr>
          <a:xfrm>
            <a:off x="667512" y="1188720"/>
            <a:ext cx="4754880" cy="65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Вся линейка</a:t>
            </a:r>
            <a:endParaRPr lang="en-US" sz="4000" dirty="0"/>
          </a:p>
        </p:txBody>
      </p:sp>
      <p:sp>
        <p:nvSpPr>
          <p:cNvPr id="9" name="bc5_8"/>
          <p:cNvSpPr txBox="1"/>
          <p:nvPr/>
        </p:nvSpPr>
        <p:spPr>
          <a:xfrm>
            <a:off x="667512" y="1786941"/>
            <a:ext cx="4754880" cy="65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i="1" dirty="0">
                <a:solidFill>
                  <a:srgbClr val="D8BD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проформ FIDIC</a:t>
            </a:r>
            <a:endParaRPr lang="en-US" sz="4000" dirty="0"/>
          </a:p>
        </p:txBody>
      </p:sp>
      <p:sp>
        <p:nvSpPr>
          <p:cNvPr id="10" name="bc5_9"/>
          <p:cNvSpPr txBox="1"/>
          <p:nvPr/>
        </p:nvSpPr>
        <p:spPr>
          <a:xfrm>
            <a:off x="685800" y="26974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Золотой стандарт типовых контрактов Международной федерации инженеров-консультантов — в ежедневной практике команды.</a:t>
            </a:r>
            <a:endParaRPr lang="en-US" sz="1250" dirty="0"/>
          </a:p>
        </p:txBody>
      </p:sp>
      <p:sp>
        <p:nvSpPr>
          <p:cNvPr id="11" name="bc5_10"/>
          <p:cNvSpPr/>
          <p:nvPr/>
        </p:nvSpPr>
        <p:spPr>
          <a:xfrm>
            <a:off x="685800" y="3931920"/>
            <a:ext cx="4206240" cy="0"/>
          </a:xfrm>
          <a:prstGeom prst="line">
            <a:avLst/>
          </a:prstGeom>
          <a:noFill/>
          <a:ln w="9525">
            <a:solidFill>
              <a:srgbClr val="4A4034"/>
            </a:solidFill>
            <a:prstDash val="solid"/>
          </a:ln>
        </p:spPr>
      </p:sp>
      <p:sp>
        <p:nvSpPr>
          <p:cNvPr id="12" name="bc5_11"/>
          <p:cNvSpPr txBox="1"/>
          <p:nvPr/>
        </p:nvSpPr>
        <p:spPr>
          <a:xfrm>
            <a:off x="685800" y="408736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Delay Analysis</a:t>
            </a:r>
            <a:endParaRPr lang="en-US" sz="1350" dirty="0"/>
          </a:p>
        </p:txBody>
      </p:sp>
      <p:sp>
        <p:nvSpPr>
          <p:cNvPr id="13" name="bc5_12"/>
          <p:cNvSpPr txBox="1"/>
          <p:nvPr/>
        </p:nvSpPr>
        <p:spPr>
          <a:xfrm>
            <a:off x="685800" y="440740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SCL Protocol: Time Impact и Time Slice Analysis — обоснование права на продление сроков (EOT) и компенсацию.</a:t>
            </a:r>
            <a:endParaRPr lang="en-US" sz="1050" dirty="0"/>
          </a:p>
        </p:txBody>
      </p:sp>
      <p:sp>
        <p:nvSpPr>
          <p:cNvPr id="14" name="bc5_13"/>
          <p:cNvSpPr/>
          <p:nvPr/>
        </p:nvSpPr>
        <p:spPr>
          <a:xfrm>
            <a:off x="685800" y="5029200"/>
            <a:ext cx="4206240" cy="0"/>
          </a:xfrm>
          <a:prstGeom prst="line">
            <a:avLst/>
          </a:prstGeom>
          <a:noFill/>
          <a:ln w="9525">
            <a:solidFill>
              <a:srgbClr val="4A4034"/>
            </a:solidFill>
            <a:prstDash val="solid"/>
          </a:ln>
        </p:spPr>
      </p:sp>
      <p:sp>
        <p:nvSpPr>
          <p:cNvPr id="15" name="bc5_14"/>
          <p:cNvSpPr txBox="1"/>
          <p:nvPr/>
        </p:nvSpPr>
        <p:spPr>
          <a:xfrm>
            <a:off x="685800" y="51846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DAAB / DAB</a:t>
            </a:r>
            <a:endParaRPr lang="en-US" sz="1350" dirty="0"/>
          </a:p>
        </p:txBody>
      </p:sp>
      <p:sp>
        <p:nvSpPr>
          <p:cNvPr id="16" name="bc5_15"/>
          <p:cNvSpPr txBox="1"/>
          <p:nvPr/>
        </p:nvSpPr>
        <p:spPr>
          <a:xfrm>
            <a:off x="685800" y="55046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Структурирование советов по спорам, Position Papers и представительство клиента на слушаниях.</a:t>
            </a:r>
            <a:endParaRPr lang="en-US" sz="1050" dirty="0"/>
          </a:p>
        </p:txBody>
      </p:sp>
      <p:sp>
        <p:nvSpPr>
          <p:cNvPr id="17" name="bc5_16"/>
          <p:cNvSpPr/>
          <p:nvPr/>
        </p:nvSpPr>
        <p:spPr>
          <a:xfrm>
            <a:off x="5669280" y="1737360"/>
            <a:ext cx="1024128" cy="4160520"/>
          </a:xfrm>
          <a:prstGeom prst="rect">
            <a:avLst/>
          </a:prstGeom>
          <a:solidFill>
            <a:srgbClr val="8E2F25"/>
          </a:solidFill>
          <a:ln/>
        </p:spPr>
      </p:sp>
      <p:sp>
        <p:nvSpPr>
          <p:cNvPr id="18" name="bc5_17"/>
          <p:cNvSpPr txBox="1"/>
          <p:nvPr/>
        </p:nvSpPr>
        <p:spPr>
          <a:xfrm>
            <a:off x="5669280" y="1938528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300" kern="0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FIDIC</a:t>
            </a:r>
            <a:endParaRPr lang="en-US" sz="750" dirty="0"/>
          </a:p>
        </p:txBody>
      </p:sp>
      <p:sp>
        <p:nvSpPr>
          <p:cNvPr id="19" name="bc5_18"/>
          <p:cNvSpPr txBox="1"/>
          <p:nvPr/>
        </p:nvSpPr>
        <p:spPr>
          <a:xfrm rot="16200000">
            <a:off x="4969764" y="32689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Red Book</a:t>
            </a:r>
            <a:endParaRPr lang="en-US" sz="2100" dirty="0"/>
          </a:p>
        </p:txBody>
      </p:sp>
      <p:sp>
        <p:nvSpPr>
          <p:cNvPr id="20" name="bc5_19"/>
          <p:cNvSpPr txBox="1"/>
          <p:nvPr/>
        </p:nvSpPr>
        <p:spPr>
          <a:xfrm>
            <a:off x="5715000" y="4965192"/>
            <a:ext cx="932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Строительство по проекту Заказчика</a:t>
            </a:r>
            <a:endParaRPr lang="en-US" sz="750" dirty="0"/>
          </a:p>
        </p:txBody>
      </p:sp>
      <p:sp>
        <p:nvSpPr>
          <p:cNvPr id="21" name="bc5_20"/>
          <p:cNvSpPr/>
          <p:nvPr/>
        </p:nvSpPr>
        <p:spPr>
          <a:xfrm>
            <a:off x="6876288" y="2103120"/>
            <a:ext cx="1024128" cy="3794760"/>
          </a:xfrm>
          <a:prstGeom prst="rect">
            <a:avLst/>
          </a:prstGeom>
          <a:solidFill>
            <a:srgbClr val="C9A13B"/>
          </a:solidFill>
          <a:ln/>
        </p:spPr>
      </p:sp>
      <p:sp>
        <p:nvSpPr>
          <p:cNvPr id="22" name="bc5_21"/>
          <p:cNvSpPr txBox="1"/>
          <p:nvPr/>
        </p:nvSpPr>
        <p:spPr>
          <a:xfrm>
            <a:off x="6876288" y="2304288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300" kern="0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FIDIC</a:t>
            </a:r>
            <a:endParaRPr lang="en-US" sz="750" dirty="0"/>
          </a:p>
        </p:txBody>
      </p:sp>
      <p:sp>
        <p:nvSpPr>
          <p:cNvPr id="23" name="bc5_22"/>
          <p:cNvSpPr txBox="1"/>
          <p:nvPr/>
        </p:nvSpPr>
        <p:spPr>
          <a:xfrm rot="16200000">
            <a:off x="6359652" y="34518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1A18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Yellow Book</a:t>
            </a:r>
            <a:endParaRPr lang="en-US" sz="2100" dirty="0"/>
          </a:p>
        </p:txBody>
      </p:sp>
      <p:sp>
        <p:nvSpPr>
          <p:cNvPr id="24" name="bc5_23"/>
          <p:cNvSpPr txBox="1"/>
          <p:nvPr/>
        </p:nvSpPr>
        <p:spPr>
          <a:xfrm>
            <a:off x="6922008" y="4965192"/>
            <a:ext cx="932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Проектирование и строительство</a:t>
            </a:r>
            <a:endParaRPr lang="en-US" sz="750" dirty="0"/>
          </a:p>
        </p:txBody>
      </p:sp>
      <p:sp>
        <p:nvSpPr>
          <p:cNvPr id="25" name="bc5_24"/>
          <p:cNvSpPr/>
          <p:nvPr/>
        </p:nvSpPr>
        <p:spPr>
          <a:xfrm>
            <a:off x="8083296" y="1508760"/>
            <a:ext cx="1024128" cy="4389120"/>
          </a:xfrm>
          <a:prstGeom prst="rect">
            <a:avLst/>
          </a:prstGeom>
          <a:solidFill>
            <a:srgbClr val="B3B4B0"/>
          </a:solidFill>
          <a:ln/>
        </p:spPr>
      </p:sp>
      <p:sp>
        <p:nvSpPr>
          <p:cNvPr id="26" name="bc5_25"/>
          <p:cNvSpPr txBox="1"/>
          <p:nvPr/>
        </p:nvSpPr>
        <p:spPr>
          <a:xfrm>
            <a:off x="8083296" y="1709928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300" kern="0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FIDIC</a:t>
            </a:r>
            <a:endParaRPr lang="en-US" sz="750" dirty="0"/>
          </a:p>
        </p:txBody>
      </p:sp>
      <p:sp>
        <p:nvSpPr>
          <p:cNvPr id="27" name="bc5_26"/>
          <p:cNvSpPr txBox="1"/>
          <p:nvPr/>
        </p:nvSpPr>
        <p:spPr>
          <a:xfrm rot="16200000">
            <a:off x="7269480" y="3154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1A18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Silver Book</a:t>
            </a:r>
            <a:endParaRPr lang="en-US" sz="2100" dirty="0"/>
          </a:p>
        </p:txBody>
      </p:sp>
      <p:sp>
        <p:nvSpPr>
          <p:cNvPr id="28" name="bc5_27"/>
          <p:cNvSpPr txBox="1"/>
          <p:nvPr/>
        </p:nvSpPr>
        <p:spPr>
          <a:xfrm>
            <a:off x="8129016" y="4965192"/>
            <a:ext cx="932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EPC / объекты под ключ</a:t>
            </a:r>
            <a:endParaRPr lang="en-US" sz="750" dirty="0"/>
          </a:p>
        </p:txBody>
      </p:sp>
      <p:sp>
        <p:nvSpPr>
          <p:cNvPr id="29" name="bc5_28"/>
          <p:cNvSpPr/>
          <p:nvPr/>
        </p:nvSpPr>
        <p:spPr>
          <a:xfrm>
            <a:off x="9290304" y="2286000"/>
            <a:ext cx="1024128" cy="3611880"/>
          </a:xfrm>
          <a:prstGeom prst="rect">
            <a:avLst/>
          </a:prstGeom>
          <a:solidFill>
            <a:srgbClr val="C98E93"/>
          </a:solidFill>
          <a:ln/>
        </p:spPr>
      </p:sp>
      <p:sp>
        <p:nvSpPr>
          <p:cNvPr id="30" name="bc5_29"/>
          <p:cNvSpPr txBox="1"/>
          <p:nvPr/>
        </p:nvSpPr>
        <p:spPr>
          <a:xfrm>
            <a:off x="9290304" y="2487168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300" kern="0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FIDIC</a:t>
            </a:r>
            <a:endParaRPr lang="en-US" sz="750" dirty="0"/>
          </a:p>
        </p:txBody>
      </p:sp>
      <p:sp>
        <p:nvSpPr>
          <p:cNvPr id="31" name="bc5_30"/>
          <p:cNvSpPr txBox="1"/>
          <p:nvPr/>
        </p:nvSpPr>
        <p:spPr>
          <a:xfrm rot="16200000">
            <a:off x="8865108" y="35433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1A18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Pink Book</a:t>
            </a:r>
            <a:endParaRPr lang="en-US" sz="2100" dirty="0"/>
          </a:p>
        </p:txBody>
      </p:sp>
      <p:sp>
        <p:nvSpPr>
          <p:cNvPr id="32" name="bc5_31"/>
          <p:cNvSpPr txBox="1"/>
          <p:nvPr/>
        </p:nvSpPr>
        <p:spPr>
          <a:xfrm>
            <a:off x="9336024" y="4965192"/>
            <a:ext cx="932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MDB: издание для банков развития</a:t>
            </a:r>
            <a:endParaRPr lang="en-US" sz="750" dirty="0"/>
          </a:p>
        </p:txBody>
      </p:sp>
      <p:sp>
        <p:nvSpPr>
          <p:cNvPr id="33" name="bc5_32"/>
          <p:cNvSpPr/>
          <p:nvPr/>
        </p:nvSpPr>
        <p:spPr>
          <a:xfrm>
            <a:off x="10497312" y="1920240"/>
            <a:ext cx="1024128" cy="3977640"/>
          </a:xfrm>
          <a:prstGeom prst="rect">
            <a:avLst/>
          </a:prstGeom>
          <a:solidFill>
            <a:srgbClr val="E9E4DA"/>
          </a:solidFill>
          <a:ln/>
        </p:spPr>
      </p:sp>
      <p:sp>
        <p:nvSpPr>
          <p:cNvPr id="34" name="bc5_33"/>
          <p:cNvSpPr txBox="1"/>
          <p:nvPr/>
        </p:nvSpPr>
        <p:spPr>
          <a:xfrm>
            <a:off x="10497312" y="2121408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300" kern="0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FIDIC</a:t>
            </a:r>
            <a:endParaRPr lang="en-US" sz="750" dirty="0"/>
          </a:p>
        </p:txBody>
      </p:sp>
      <p:sp>
        <p:nvSpPr>
          <p:cNvPr id="35" name="bc5_34"/>
          <p:cNvSpPr txBox="1"/>
          <p:nvPr/>
        </p:nvSpPr>
        <p:spPr>
          <a:xfrm rot="16200000">
            <a:off x="9889236" y="33604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1A18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 Book</a:t>
            </a:r>
            <a:endParaRPr lang="en-US" sz="2100" dirty="0"/>
          </a:p>
        </p:txBody>
      </p:sp>
      <p:sp>
        <p:nvSpPr>
          <p:cNvPr id="36" name="bc5_35"/>
          <p:cNvSpPr txBox="1"/>
          <p:nvPr/>
        </p:nvSpPr>
        <p:spPr>
          <a:xfrm>
            <a:off x="10543032" y="4965192"/>
            <a:ext cx="932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Договор с консультантом</a:t>
            </a:r>
            <a:endParaRPr lang="en-US" sz="750" dirty="0"/>
          </a:p>
        </p:txBody>
      </p:sp>
      <p:sp>
        <p:nvSpPr>
          <p:cNvPr id="37" name="bc5_36"/>
          <p:cNvSpPr/>
          <p:nvPr/>
        </p:nvSpPr>
        <p:spPr>
          <a:xfrm>
            <a:off x="5394960" y="5897880"/>
            <a:ext cx="6126480" cy="0"/>
          </a:xfrm>
          <a:prstGeom prst="line">
            <a:avLst/>
          </a:prstGeom>
          <a:noFill/>
          <a:ln w="12700">
            <a:solidFill>
              <a:srgbClr val="D8BD96"/>
            </a:solidFill>
            <a:prstDash val="solid"/>
          </a:ln>
        </p:spPr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4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0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4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4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4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 animBg="1"/>
      <p:bldP spid="7" grpId="0"/>
      <p:bldP spid="8" grpId="0"/>
      <p:bldP spid="9" grpId="0"/>
      <p:bldP spid="10" grpId="0"/>
      <p:bldP spid="11" grpId="0" animBg="1"/>
      <p:bldP spid="12" grpId="0"/>
      <p:bldP spid="13" grpId="0"/>
      <p:bldP spid="14" grpId="0" animBg="1"/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  <p:bldP spid="23" grpId="0"/>
      <p:bldP spid="24" grpId="0"/>
      <p:bldP spid="25" grpId="0" animBg="1"/>
      <p:bldP spid="26" grpId="0"/>
      <p:bldP spid="27" grpId="0"/>
      <p:bldP spid="28" grpId="0"/>
      <p:bldP spid="29" grpId="0" animBg="1"/>
      <p:bldP spid="30" grpId="0"/>
      <p:bldP spid="31" grpId="0"/>
      <p:bldP spid="32" grpId="0"/>
      <p:bldP spid="33" grpId="0" animBg="1"/>
      <p:bldP spid="34" grpId="0"/>
      <p:bldP spid="35" grpId="0"/>
      <p:bldP spid="36" grpId="0"/>
      <p:bldP spid="3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c6_1"/>
          <p:cNvSpPr txBox="1"/>
          <p:nvPr/>
        </p:nvSpPr>
        <p:spPr>
          <a:xfrm>
            <a:off x="9692640" y="4389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pPr algn="r" indent="0" marL="0">
              <a:buNone/>
            </a:pPr>
            <a:r>
              <a:rPr lang="en-US" sz="900" b="1" spc="200" kern="0" dirty="0">
                <a:solidFill>
                  <a:srgbClr val="6E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10</a:t>
            </a:r>
            <a:endParaRPr lang="en-US" sz="900" dirty="0"/>
          </a:p>
        </p:txBody>
      </p:sp>
      <p:sp>
        <p:nvSpPr>
          <p:cNvPr id="3" name="bc6_2"/>
          <p:cNvSpPr txBox="1"/>
          <p:nvPr/>
        </p:nvSpPr>
        <p:spPr>
          <a:xfrm>
            <a:off x="68580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E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bridgeconsult.uz</a:t>
            </a:r>
            <a:endParaRPr lang="en-US" sz="800" dirty="0"/>
          </a:p>
        </p:txBody>
      </p:sp>
      <p:sp>
        <p:nvSpPr>
          <p:cNvPr id="4" name="bc6_3"/>
          <p:cNvSpPr txBox="1"/>
          <p:nvPr/>
        </p:nvSpPr>
        <p:spPr>
          <a:xfrm>
            <a:off x="877824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6E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41.2995° N  ·  69.2401° E</a:t>
            </a:r>
            <a:endParaRPr lang="en-US" sz="800" dirty="0"/>
          </a:p>
        </p:txBody>
      </p:sp>
      <p:sp>
        <p:nvSpPr>
          <p:cNvPr id="5" name="bc6_4"/>
          <p:cNvSpPr/>
          <p:nvPr/>
        </p:nvSpPr>
        <p:spPr>
          <a:xfrm>
            <a:off x="685800" y="923544"/>
            <a:ext cx="384048" cy="0"/>
          </a:xfrm>
          <a:prstGeom prst="line">
            <a:avLst/>
          </a:prstGeom>
          <a:noFill/>
          <a:ln w="12700">
            <a:solidFill>
              <a:srgbClr val="9B7C56"/>
            </a:solidFill>
            <a:prstDash val="solid"/>
          </a:ln>
        </p:spPr>
      </p:sp>
      <p:sp>
        <p:nvSpPr>
          <p:cNvPr id="6" name="bc6_5"/>
          <p:cNvSpPr txBox="1"/>
          <p:nvPr/>
        </p:nvSpPr>
        <p:spPr>
          <a:xfrm>
            <a:off x="1216152" y="8229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B7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ПОРТФОЛИО</a:t>
            </a:r>
            <a:endParaRPr lang="en-US" sz="900" dirty="0"/>
          </a:p>
        </p:txBody>
      </p:sp>
      <p:sp>
        <p:nvSpPr>
          <p:cNvPr id="7" name="bc6_6"/>
          <p:cNvSpPr txBox="1"/>
          <p:nvPr/>
        </p:nvSpPr>
        <p:spPr>
          <a:xfrm>
            <a:off x="667512" y="1051560"/>
            <a:ext cx="4572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1A18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Избранные</a:t>
            </a:r>
            <a:endParaRPr lang="en-US" sz="3600" dirty="0"/>
          </a:p>
        </p:txBody>
      </p:sp>
      <p:sp>
        <p:nvSpPr>
          <p:cNvPr id="8" name="bc6_7"/>
          <p:cNvSpPr txBox="1"/>
          <p:nvPr/>
        </p:nvSpPr>
        <p:spPr>
          <a:xfrm>
            <a:off x="667512" y="1589959"/>
            <a:ext cx="4572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i="1" dirty="0">
                <a:solidFill>
                  <a:srgbClr val="9B7C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проекты</a:t>
            </a:r>
            <a:endParaRPr lang="en-US" sz="3600" dirty="0"/>
          </a:p>
        </p:txBody>
      </p:sp>
      <p:sp>
        <p:nvSpPr>
          <p:cNvPr id="9" name="bc6_8"/>
          <p:cNvSpPr txBox="1"/>
          <p:nvPr/>
        </p:nvSpPr>
        <p:spPr>
          <a:xfrm>
            <a:off x="6995160" y="11887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E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Контрактное сопровождение объектов национального масштаба — от спортивной инфраструктуры до транспортных коридоров ЦАРЭС.</a:t>
            </a:r>
            <a:endParaRPr lang="en-US" sz="1200" dirty="0"/>
          </a:p>
        </p:txBody>
      </p:sp>
      <p:pic>
        <p:nvPicPr>
          <p:cNvPr id="10" name="bc6_9" descr="/home/user/bridge-astro/presentation/company-2026/assets/p-olymp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286000"/>
            <a:ext cx="3429000" cy="2104159"/>
          </a:xfrm>
          <a:prstGeom prst="rect">
            <a:avLst/>
          </a:prstGeom>
        </p:spPr>
      </p:pic>
      <p:sp>
        <p:nvSpPr>
          <p:cNvPr id="11" name="bc6_10"/>
          <p:cNvSpPr/>
          <p:nvPr/>
        </p:nvSpPr>
        <p:spPr>
          <a:xfrm>
            <a:off x="850392" y="2450592"/>
            <a:ext cx="662940" cy="274320"/>
          </a:xfrm>
          <a:prstGeom prst="rect">
            <a:avLst/>
          </a:prstGeom>
          <a:solidFill>
            <a:srgbClr val="0D0C0B">
              <a:alpha val="85000"/>
            </a:srgbClr>
          </a:solidFill>
          <a:ln/>
        </p:spPr>
      </p:sp>
      <p:sp>
        <p:nvSpPr>
          <p:cNvPr id="12" name="bc6_11"/>
          <p:cNvSpPr txBox="1"/>
          <p:nvPr/>
        </p:nvSpPr>
        <p:spPr>
          <a:xfrm>
            <a:off x="850392" y="2450592"/>
            <a:ext cx="6629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0DC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EPC+F</a:t>
            </a:r>
            <a:endParaRPr lang="en-US" sz="750" dirty="0"/>
          </a:p>
        </p:txBody>
      </p:sp>
      <p:sp>
        <p:nvSpPr>
          <p:cNvPr id="13" name="bc6_12"/>
          <p:cNvSpPr txBox="1"/>
          <p:nvPr/>
        </p:nvSpPr>
        <p:spPr>
          <a:xfrm>
            <a:off x="685800" y="4526280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B7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 — 2025</a:t>
            </a:r>
            <a:endParaRPr lang="en-US" sz="850" dirty="0"/>
          </a:p>
        </p:txBody>
      </p:sp>
      <p:sp>
        <p:nvSpPr>
          <p:cNvPr id="14" name="bc6_13"/>
          <p:cNvSpPr txBox="1"/>
          <p:nvPr/>
        </p:nvSpPr>
        <p:spPr>
          <a:xfrm>
            <a:off x="685800" y="477316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Олимпийский городок, Ташкент</a:t>
            </a:r>
            <a:endParaRPr lang="en-US" sz="1400" dirty="0"/>
          </a:p>
        </p:txBody>
      </p:sp>
      <p:sp>
        <p:nvSpPr>
          <p:cNvPr id="15" name="bc6_14"/>
          <p:cNvSpPr txBox="1"/>
          <p:nvPr/>
        </p:nvSpPr>
        <p:spPr>
          <a:xfrm>
            <a:off x="685800" y="513892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Спортивные объекты IV Летних Азиатских юношеских игр.</a:t>
            </a:r>
            <a:endParaRPr lang="en-US" sz="1050" dirty="0"/>
          </a:p>
        </p:txBody>
      </p:sp>
      <p:pic>
        <p:nvPicPr>
          <p:cNvPr id="16" name="bc6_15" descr="/home/user/bridge-astro/presentation/company-2026/assets/p-tic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286000"/>
            <a:ext cx="3429000" cy="2104159"/>
          </a:xfrm>
          <a:prstGeom prst="rect">
            <a:avLst/>
          </a:prstGeom>
        </p:spPr>
      </p:pic>
      <p:sp>
        <p:nvSpPr>
          <p:cNvPr id="17" name="bc6_16"/>
          <p:cNvSpPr/>
          <p:nvPr/>
        </p:nvSpPr>
        <p:spPr>
          <a:xfrm>
            <a:off x="4553712" y="2450592"/>
            <a:ext cx="1417320" cy="274320"/>
          </a:xfrm>
          <a:prstGeom prst="rect">
            <a:avLst/>
          </a:prstGeom>
          <a:solidFill>
            <a:srgbClr val="0D0C0B">
              <a:alpha val="85000"/>
            </a:srgbClr>
          </a:solidFill>
          <a:ln/>
        </p:spPr>
      </p:sp>
      <p:sp>
        <p:nvSpPr>
          <p:cNvPr id="18" name="bc6_17"/>
          <p:cNvSpPr txBox="1"/>
          <p:nvPr/>
        </p:nvSpPr>
        <p:spPr>
          <a:xfrm>
            <a:off x="4553712" y="245059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0DC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FIDIC WHITE BOOK</a:t>
            </a:r>
            <a:endParaRPr lang="en-US" sz="750" dirty="0"/>
          </a:p>
        </p:txBody>
      </p:sp>
      <p:sp>
        <p:nvSpPr>
          <p:cNvPr id="19" name="bc6_18"/>
          <p:cNvSpPr txBox="1"/>
          <p:nvPr/>
        </p:nvSpPr>
        <p:spPr>
          <a:xfrm>
            <a:off x="4389120" y="4526280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B7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— н.в.</a:t>
            </a:r>
            <a:endParaRPr lang="en-US" sz="850" dirty="0"/>
          </a:p>
        </p:txBody>
      </p:sp>
      <p:sp>
        <p:nvSpPr>
          <p:cNvPr id="20" name="bc6_19"/>
          <p:cNvSpPr txBox="1"/>
          <p:nvPr/>
        </p:nvSpPr>
        <p:spPr>
          <a:xfrm>
            <a:off x="4389120" y="477316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АО «Tashkent Invest Company»</a:t>
            </a:r>
            <a:endParaRPr lang="en-US" sz="1400" dirty="0"/>
          </a:p>
        </p:txBody>
      </p:sp>
      <p:sp>
        <p:nvSpPr>
          <p:cNvPr id="21" name="bc6_20"/>
          <p:cNvSpPr txBox="1"/>
          <p:nvPr/>
        </p:nvSpPr>
        <p:spPr>
          <a:xfrm>
            <a:off x="4389120" y="513892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 закупок и управления контрактами для проектов EPC+F.</a:t>
            </a:r>
            <a:endParaRPr lang="en-US" sz="1050" dirty="0"/>
          </a:p>
        </p:txBody>
      </p:sp>
      <p:pic>
        <p:nvPicPr>
          <p:cNvPr id="22" name="bc6_21" descr="/home/user/bridge-astro/presentation/company-2026/assets/p-kamchik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2286000"/>
            <a:ext cx="3429000" cy="2104159"/>
          </a:xfrm>
          <a:prstGeom prst="rect">
            <a:avLst/>
          </a:prstGeom>
        </p:spPr>
      </p:pic>
      <p:sp>
        <p:nvSpPr>
          <p:cNvPr id="23" name="bc6_22"/>
          <p:cNvSpPr/>
          <p:nvPr/>
        </p:nvSpPr>
        <p:spPr>
          <a:xfrm>
            <a:off x="8257032" y="2450592"/>
            <a:ext cx="1280160" cy="274320"/>
          </a:xfrm>
          <a:prstGeom prst="rect">
            <a:avLst/>
          </a:prstGeom>
          <a:solidFill>
            <a:srgbClr val="0D0C0B">
              <a:alpha val="85000"/>
            </a:srgbClr>
          </a:solidFill>
          <a:ln/>
        </p:spPr>
      </p:sp>
      <p:sp>
        <p:nvSpPr>
          <p:cNvPr id="24" name="bc6_23"/>
          <p:cNvSpPr txBox="1"/>
          <p:nvPr/>
        </p:nvSpPr>
        <p:spPr>
          <a:xfrm>
            <a:off x="8257032" y="2450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0DC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MDB HARMONISED</a:t>
            </a:r>
            <a:endParaRPr lang="en-US" sz="750" dirty="0"/>
          </a:p>
        </p:txBody>
      </p:sp>
      <p:sp>
        <p:nvSpPr>
          <p:cNvPr id="25" name="bc6_24"/>
          <p:cNvSpPr txBox="1"/>
          <p:nvPr/>
        </p:nvSpPr>
        <p:spPr>
          <a:xfrm>
            <a:off x="8092440" y="4526280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B7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 — 2022</a:t>
            </a:r>
            <a:endParaRPr lang="en-US" sz="850" dirty="0"/>
          </a:p>
        </p:txBody>
      </p:sp>
      <p:sp>
        <p:nvSpPr>
          <p:cNvPr id="26" name="bc6_25"/>
          <p:cNvSpPr txBox="1"/>
          <p:nvPr/>
        </p:nvSpPr>
        <p:spPr>
          <a:xfrm>
            <a:off x="8092440" y="477316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Автодорога А-373, перевал Камчик</a:t>
            </a:r>
            <a:endParaRPr lang="en-US" sz="1400" dirty="0"/>
          </a:p>
        </p:txBody>
      </p:sp>
      <p:sp>
        <p:nvSpPr>
          <p:cNvPr id="27" name="bc6_26"/>
          <p:cNvSpPr txBox="1"/>
          <p:nvPr/>
        </p:nvSpPr>
        <p:spPr>
          <a:xfrm>
            <a:off x="8092440" y="513892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Транспортный коридор ЦАРЭС 2. Заказчик — АО EVRASCON.</a:t>
            </a:r>
            <a:endParaRPr lang="en-US" sz="1050" dirty="0"/>
          </a:p>
        </p:txBody>
      </p:sp>
      <p:sp>
        <p:nvSpPr>
          <p:cNvPr id="28" name="bc6_27"/>
          <p:cNvSpPr/>
          <p:nvPr/>
        </p:nvSpPr>
        <p:spPr>
          <a:xfrm>
            <a:off x="685800" y="5870448"/>
            <a:ext cx="10835640" cy="0"/>
          </a:xfrm>
          <a:prstGeom prst="line">
            <a:avLst/>
          </a:prstGeom>
          <a:noFill/>
          <a:ln w="9525">
            <a:solidFill>
              <a:srgbClr val="D6CCBC"/>
            </a:solidFill>
            <a:prstDash val="solid"/>
          </a:ln>
        </p:spPr>
      </p:sp>
      <p:sp>
        <p:nvSpPr>
          <p:cNvPr id="29" name="bc6_28"/>
          <p:cNvSpPr txBox="1"/>
          <p:nvPr/>
        </p:nvSpPr>
        <p:spPr>
          <a:xfrm>
            <a:off x="685800" y="5989320"/>
            <a:ext cx="10835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B7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ВОДОСНАБЖЕНИЕ   </a:t>
            </a:r>
            <a:pPr indent="0" marL="0">
              <a:buNone/>
            </a:pPr>
            <a:r>
              <a:rPr lang="en-US" sz="950" dirty="0">
                <a:solidFill>
                  <a:srgbClr val="3A34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Янгиюль и Жийдакапа — World Bank, EBRD   ·   Наманган, 60 км трубопровода — OPEC Fund   ·   Самаркандская область — АБР</a:t>
            </a:r>
            <a:endParaRPr lang="en-US" sz="9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1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1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11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9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11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1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11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9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5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53" presetClass="entr" presetSubtype="16" fill="hold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11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11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1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61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166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9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90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176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9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8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 animBg="1"/>
      <p:bldP spid="6" grpId="0"/>
      <p:bldP spid="7" grpId="0"/>
      <p:bldP spid="8" grpId="0"/>
      <p:bldP spid="9" grpId="0"/>
      <p:bldP spid="11" grpId="0" animBg="1"/>
      <p:bldP spid="12" grpId="0"/>
      <p:bldP spid="13" grpId="0"/>
      <p:bldP spid="14" grpId="0"/>
      <p:bldP spid="15" grpId="0"/>
      <p:bldP spid="17" grpId="0" animBg="1"/>
      <p:bldP spid="18" grpId="0"/>
      <p:bldP spid="19" grpId="0"/>
      <p:bldP spid="20" grpId="0"/>
      <p:bldP spid="21" grpId="0"/>
      <p:bldP spid="23" grpId="0" animBg="1"/>
      <p:bldP spid="24" grpId="0"/>
      <p:bldP spid="25" grpId="0"/>
      <p:bldP spid="26" grpId="0"/>
      <p:bldP spid="27" grpId="0"/>
      <p:bldP spid="28" grpId="0" animBg="1"/>
      <p:bldP spid="2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c7_1"/>
          <p:cNvSpPr txBox="1"/>
          <p:nvPr/>
        </p:nvSpPr>
        <p:spPr>
          <a:xfrm>
            <a:off x="9692640" y="4389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pPr algn="r" indent="0" marL="0">
              <a:buNone/>
            </a:pPr>
            <a:r>
              <a:rPr lang="en-US" sz="900" b="1" spc="200" kern="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10</a:t>
            </a:r>
            <a:endParaRPr lang="en-US" sz="900" dirty="0"/>
          </a:p>
        </p:txBody>
      </p:sp>
      <p:sp>
        <p:nvSpPr>
          <p:cNvPr id="3" name="bc7_2"/>
          <p:cNvSpPr txBox="1"/>
          <p:nvPr/>
        </p:nvSpPr>
        <p:spPr>
          <a:xfrm>
            <a:off x="68580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bridgeconsult.uz</a:t>
            </a:r>
            <a:endParaRPr lang="en-US" sz="800" dirty="0"/>
          </a:p>
        </p:txBody>
      </p:sp>
      <p:sp>
        <p:nvSpPr>
          <p:cNvPr id="4" name="bc7_3"/>
          <p:cNvSpPr txBox="1"/>
          <p:nvPr/>
        </p:nvSpPr>
        <p:spPr>
          <a:xfrm>
            <a:off x="877824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41.2995° N  ·  69.2401° E</a:t>
            </a:r>
            <a:endParaRPr lang="en-US" sz="800" dirty="0"/>
          </a:p>
        </p:txBody>
      </p:sp>
      <p:sp>
        <p:nvSpPr>
          <p:cNvPr id="5" name="bc7_4"/>
          <p:cNvSpPr/>
          <p:nvPr/>
        </p:nvSpPr>
        <p:spPr>
          <a:xfrm>
            <a:off x="685800" y="923544"/>
            <a:ext cx="384048" cy="0"/>
          </a:xfrm>
          <a:prstGeom prst="line">
            <a:avLst/>
          </a:prstGeom>
          <a:noFill/>
          <a:ln w="12700">
            <a:solidFill>
              <a:srgbClr val="D8BD96"/>
            </a:solidFill>
            <a:prstDash val="solid"/>
          </a:ln>
        </p:spPr>
      </p:sp>
      <p:sp>
        <p:nvSpPr>
          <p:cNvPr id="6" name="bc7_5"/>
          <p:cNvSpPr txBox="1"/>
          <p:nvPr/>
        </p:nvSpPr>
        <p:spPr>
          <a:xfrm>
            <a:off x="1216152" y="8229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D8BD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</a:t>
            </a:r>
            <a:endParaRPr lang="en-US" sz="900" dirty="0"/>
          </a:p>
        </p:txBody>
      </p:sp>
      <p:sp>
        <p:nvSpPr>
          <p:cNvPr id="7" name="bc7_6"/>
          <p:cNvSpPr txBox="1"/>
          <p:nvPr/>
        </p:nvSpPr>
        <p:spPr>
          <a:xfrm>
            <a:off x="667512" y="1051560"/>
            <a:ext cx="4572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Лица</a:t>
            </a:r>
            <a:endParaRPr lang="en-US" sz="3600" dirty="0"/>
          </a:p>
        </p:txBody>
      </p:sp>
      <p:sp>
        <p:nvSpPr>
          <p:cNvPr id="8" name="bc7_7"/>
          <p:cNvSpPr txBox="1"/>
          <p:nvPr/>
        </p:nvSpPr>
        <p:spPr>
          <a:xfrm>
            <a:off x="667512" y="1589959"/>
            <a:ext cx="4572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i="1" dirty="0">
                <a:solidFill>
                  <a:srgbClr val="D8BD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компании</a:t>
            </a:r>
            <a:endParaRPr lang="en-US" sz="3600" dirty="0"/>
          </a:p>
        </p:txBody>
      </p:sp>
      <p:sp>
        <p:nvSpPr>
          <p:cNvPr id="9" name="bc7_8"/>
          <p:cNvSpPr txBox="1"/>
          <p:nvPr/>
        </p:nvSpPr>
        <p:spPr>
          <a:xfrm>
            <a:off x="6995160" y="1188720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Десятилетия практики в инженерном деле, юриспруденции и международном арбитраже.</a:t>
            </a:r>
            <a:endParaRPr lang="en-US" sz="1200" dirty="0"/>
          </a:p>
        </p:txBody>
      </p:sp>
      <p:pic>
        <p:nvPicPr>
          <p:cNvPr id="10" name="bc7_9" descr="/home/user/bridge-astro/presentation/company-2026/assets/t-laris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240280"/>
            <a:ext cx="2011680" cy="2682240"/>
          </a:xfrm>
          <a:prstGeom prst="rect">
            <a:avLst/>
          </a:prstGeom>
        </p:spPr>
      </p:pic>
      <p:sp>
        <p:nvSpPr>
          <p:cNvPr id="11" name="bc7_10"/>
          <p:cNvSpPr txBox="1"/>
          <p:nvPr/>
        </p:nvSpPr>
        <p:spPr>
          <a:xfrm>
            <a:off x="685800" y="50109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Лариса Белоусова</a:t>
            </a:r>
            <a:endParaRPr lang="en-US" sz="1400" dirty="0"/>
          </a:p>
        </p:txBody>
      </p:sp>
      <p:sp>
        <p:nvSpPr>
          <p:cNvPr id="12" name="bc7_11"/>
          <p:cNvSpPr txBox="1"/>
          <p:nvPr/>
        </p:nvSpPr>
        <p:spPr>
          <a:xfrm>
            <a:off x="685800" y="53766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Основатель и директор · FCCE, FCCP, ADB Accredited</a:t>
            </a:r>
            <a:endParaRPr lang="en-US" sz="900" dirty="0"/>
          </a:p>
        </p:txBody>
      </p:sp>
      <p:pic>
        <p:nvPicPr>
          <p:cNvPr id="13" name="bc7_12" descr="/home/user/bridge-astro/presentation/company-2026/assets/t-ann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1790" y="2240280"/>
            <a:ext cx="2011680" cy="2682240"/>
          </a:xfrm>
          <a:prstGeom prst="rect">
            <a:avLst/>
          </a:prstGeom>
        </p:spPr>
      </p:pic>
      <p:sp>
        <p:nvSpPr>
          <p:cNvPr id="14" name="bc7_13"/>
          <p:cNvSpPr txBox="1"/>
          <p:nvPr/>
        </p:nvSpPr>
        <p:spPr>
          <a:xfrm>
            <a:off x="2891790" y="50109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Анна Убайдуллаева</a:t>
            </a:r>
            <a:endParaRPr lang="en-US" sz="1400" dirty="0"/>
          </a:p>
        </p:txBody>
      </p:sp>
      <p:sp>
        <p:nvSpPr>
          <p:cNvPr id="15" name="bc7_14"/>
          <p:cNvSpPr txBox="1"/>
          <p:nvPr/>
        </p:nvSpPr>
        <p:spPr>
          <a:xfrm>
            <a:off x="2891790" y="53766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Партнёр, юридический консультант · арбитр TIAC и VIAC</a:t>
            </a:r>
            <a:endParaRPr lang="en-US" sz="900" dirty="0"/>
          </a:p>
        </p:txBody>
      </p:sp>
      <p:pic>
        <p:nvPicPr>
          <p:cNvPr id="16" name="bc7_15" descr="/home/user/bridge-astro/presentation/company-2026/assets/t-ernes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7780" y="2240280"/>
            <a:ext cx="2011680" cy="2682240"/>
          </a:xfrm>
          <a:prstGeom prst="rect">
            <a:avLst/>
          </a:prstGeom>
        </p:spPr>
      </p:pic>
      <p:sp>
        <p:nvSpPr>
          <p:cNvPr id="17" name="bc7_16"/>
          <p:cNvSpPr txBox="1"/>
          <p:nvPr/>
        </p:nvSpPr>
        <p:spPr>
          <a:xfrm>
            <a:off x="5097780" y="50109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Эрнест Белоусов</a:t>
            </a:r>
            <a:endParaRPr lang="en-US" sz="1400" dirty="0"/>
          </a:p>
        </p:txBody>
      </p:sp>
      <p:sp>
        <p:nvSpPr>
          <p:cNvPr id="18" name="bc7_17"/>
          <p:cNvSpPr txBox="1"/>
          <p:nvPr/>
        </p:nvSpPr>
        <p:spPr>
          <a:xfrm>
            <a:off x="5097780" y="53766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Ведущий специалист по контрактам FIDIC</a:t>
            </a:r>
            <a:endParaRPr lang="en-US" sz="900" dirty="0"/>
          </a:p>
        </p:txBody>
      </p:sp>
      <p:pic>
        <p:nvPicPr>
          <p:cNvPr id="19" name="bc7_18" descr="/home/user/bridge-astro/presentation/company-2026/assets/t-lucia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3770" y="2240280"/>
            <a:ext cx="2011680" cy="2682240"/>
          </a:xfrm>
          <a:prstGeom prst="rect">
            <a:avLst/>
          </a:prstGeom>
        </p:spPr>
      </p:pic>
      <p:sp>
        <p:nvSpPr>
          <p:cNvPr id="20" name="bc7_19"/>
          <p:cNvSpPr txBox="1"/>
          <p:nvPr/>
        </p:nvSpPr>
        <p:spPr>
          <a:xfrm>
            <a:off x="7303770" y="50109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Люция Ахмедиева</a:t>
            </a:r>
            <a:endParaRPr lang="en-US" sz="1400" dirty="0"/>
          </a:p>
        </p:txBody>
      </p:sp>
      <p:sp>
        <p:nvSpPr>
          <p:cNvPr id="21" name="bc7_20"/>
          <p:cNvSpPr txBox="1"/>
          <p:nvPr/>
        </p:nvSpPr>
        <p:spPr>
          <a:xfrm>
            <a:off x="7303770" y="53766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 сметного отдела · 40+ лет опыта</a:t>
            </a:r>
            <a:endParaRPr lang="en-US" sz="900" dirty="0"/>
          </a:p>
        </p:txBody>
      </p:sp>
      <p:pic>
        <p:nvPicPr>
          <p:cNvPr id="22" name="bc7_21" descr="/home/user/bridge-astro/presentation/company-2026/assets/t-olga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0" y="2240280"/>
            <a:ext cx="2011680" cy="2682240"/>
          </a:xfrm>
          <a:prstGeom prst="rect">
            <a:avLst/>
          </a:prstGeom>
        </p:spPr>
      </p:pic>
      <p:sp>
        <p:nvSpPr>
          <p:cNvPr id="23" name="bc7_22"/>
          <p:cNvSpPr txBox="1"/>
          <p:nvPr/>
        </p:nvSpPr>
        <p:spPr>
          <a:xfrm>
            <a:off x="9509760" y="50109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Ольга Митрофанова</a:t>
            </a:r>
            <a:endParaRPr lang="en-US" sz="1400" dirty="0"/>
          </a:p>
        </p:txBody>
      </p:sp>
      <p:sp>
        <p:nvSpPr>
          <p:cNvPr id="24" name="bc7_23"/>
          <p:cNvSpPr txBox="1"/>
          <p:nvPr/>
        </p:nvSpPr>
        <p:spPr>
          <a:xfrm>
            <a:off x="9509760" y="53766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 отдела качества · аудитор ISO 9001</a:t>
            </a:r>
            <a:endParaRPr lang="en-US" sz="9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1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1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11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9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11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1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1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9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53" presetClass="entr" presetSubtype="16" fill="hold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11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1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11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9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9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9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ntr" presetSubtype="16" fill="hold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11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11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1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9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59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53" presetClass="entr" presetSubtype="16" fill="hold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11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11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1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61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9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9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90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7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 animBg="1"/>
      <p:bldP spid="6" grpId="0"/>
      <p:bldP spid="7" grpId="0"/>
      <p:bldP spid="8" grpId="0"/>
      <p:bldP spid="9" grpId="0"/>
      <p:bldP spid="11" grpId="0"/>
      <p:bldP spid="12" grpId="0"/>
      <p:bldP spid="14" grpId="0"/>
      <p:bldP spid="15" grpId="0"/>
      <p:bldP spid="17" grpId="0"/>
      <p:bldP spid="18" grpId="0"/>
      <p:bldP spid="20" grpId="0"/>
      <p:bldP spid="21" grpId="0"/>
      <p:bldP spid="23" grpId="0"/>
      <p:bldP spid="2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c8_1"/>
          <p:cNvSpPr txBox="1"/>
          <p:nvPr/>
        </p:nvSpPr>
        <p:spPr>
          <a:xfrm>
            <a:off x="9692640" y="4389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pPr algn="r" indent="0" marL="0">
              <a:buNone/>
            </a:pPr>
            <a:r>
              <a:rPr lang="en-US" sz="900" b="1" spc="200" kern="0" dirty="0">
                <a:solidFill>
                  <a:srgbClr val="6E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10</a:t>
            </a:r>
            <a:endParaRPr lang="en-US" sz="900" dirty="0"/>
          </a:p>
        </p:txBody>
      </p:sp>
      <p:sp>
        <p:nvSpPr>
          <p:cNvPr id="3" name="bc8_2"/>
          <p:cNvSpPr txBox="1"/>
          <p:nvPr/>
        </p:nvSpPr>
        <p:spPr>
          <a:xfrm>
            <a:off x="68580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E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bridgeconsult.uz</a:t>
            </a:r>
            <a:endParaRPr lang="en-US" sz="800" dirty="0"/>
          </a:p>
        </p:txBody>
      </p:sp>
      <p:sp>
        <p:nvSpPr>
          <p:cNvPr id="4" name="bc8_3"/>
          <p:cNvSpPr txBox="1"/>
          <p:nvPr/>
        </p:nvSpPr>
        <p:spPr>
          <a:xfrm>
            <a:off x="877824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6E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41.2995° N  ·  69.2401° E</a:t>
            </a:r>
            <a:endParaRPr lang="en-US" sz="800" dirty="0"/>
          </a:p>
        </p:txBody>
      </p:sp>
      <p:sp>
        <p:nvSpPr>
          <p:cNvPr id="5" name="bc8_4"/>
          <p:cNvSpPr/>
          <p:nvPr/>
        </p:nvSpPr>
        <p:spPr>
          <a:xfrm>
            <a:off x="685800" y="923544"/>
            <a:ext cx="384048" cy="0"/>
          </a:xfrm>
          <a:prstGeom prst="line">
            <a:avLst/>
          </a:prstGeom>
          <a:noFill/>
          <a:ln w="12700">
            <a:solidFill>
              <a:srgbClr val="9B7C56"/>
            </a:solidFill>
            <a:prstDash val="solid"/>
          </a:ln>
        </p:spPr>
      </p:sp>
      <p:sp>
        <p:nvSpPr>
          <p:cNvPr id="6" name="bc8_5"/>
          <p:cNvSpPr txBox="1"/>
          <p:nvPr/>
        </p:nvSpPr>
        <p:spPr>
          <a:xfrm>
            <a:off x="1216152" y="8229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B7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ДОВЕРИЕ</a:t>
            </a:r>
            <a:endParaRPr lang="en-US" sz="900" dirty="0"/>
          </a:p>
        </p:txBody>
      </p:sp>
      <p:sp>
        <p:nvSpPr>
          <p:cNvPr id="7" name="bc8_6"/>
          <p:cNvSpPr txBox="1"/>
          <p:nvPr/>
        </p:nvSpPr>
        <p:spPr>
          <a:xfrm>
            <a:off x="667512" y="1188720"/>
            <a:ext cx="4754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1A18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Международное</a:t>
            </a:r>
            <a:endParaRPr lang="en-US" sz="3600" dirty="0"/>
          </a:p>
        </p:txBody>
      </p:sp>
      <p:sp>
        <p:nvSpPr>
          <p:cNvPr id="8" name="bc8_7"/>
          <p:cNvSpPr txBox="1"/>
          <p:nvPr/>
        </p:nvSpPr>
        <p:spPr>
          <a:xfrm>
            <a:off x="667512" y="1727119"/>
            <a:ext cx="4754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i="1" dirty="0">
                <a:solidFill>
                  <a:srgbClr val="9B7C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признание</a:t>
            </a:r>
            <a:endParaRPr lang="en-US" sz="3600" dirty="0"/>
          </a:p>
        </p:txBody>
      </p:sp>
      <p:sp>
        <p:nvSpPr>
          <p:cNvPr id="9" name="bc8_8"/>
          <p:cNvSpPr txBox="1"/>
          <p:nvPr/>
        </p:nvSpPr>
        <p:spPr>
          <a:xfrm>
            <a:off x="685800" y="256032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E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 компании — аккредитованный АБР специалист по управлению контрактами и предотвращению споров.</a:t>
            </a:r>
            <a:endParaRPr lang="en-US" sz="1200" dirty="0"/>
          </a:p>
        </p:txBody>
      </p:sp>
      <p:sp>
        <p:nvSpPr>
          <p:cNvPr id="10" name="bc8_9"/>
          <p:cNvSpPr/>
          <p:nvPr/>
        </p:nvSpPr>
        <p:spPr>
          <a:xfrm>
            <a:off x="685800" y="3474720"/>
            <a:ext cx="4572000" cy="0"/>
          </a:xfrm>
          <a:prstGeom prst="line">
            <a:avLst/>
          </a:prstGeom>
          <a:noFill/>
          <a:ln w="9525">
            <a:solidFill>
              <a:srgbClr val="D6CCBC"/>
            </a:solidFill>
            <a:prstDash val="solid"/>
          </a:ln>
        </p:spPr>
      </p:sp>
      <p:sp>
        <p:nvSpPr>
          <p:cNvPr id="11" name="bc8_10"/>
          <p:cNvSpPr txBox="1"/>
          <p:nvPr/>
        </p:nvSpPr>
        <p:spPr>
          <a:xfrm>
            <a:off x="685800" y="356616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9B7C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FCCE · FCCP</a:t>
            </a:r>
            <a:endParaRPr lang="en-US" sz="1300" dirty="0"/>
          </a:p>
        </p:txBody>
      </p:sp>
      <p:sp>
        <p:nvSpPr>
          <p:cNvPr id="12" name="bc8_11"/>
          <p:cNvSpPr txBox="1"/>
          <p:nvPr/>
        </p:nvSpPr>
        <p:spPr>
          <a:xfrm>
            <a:off x="2011680" y="360273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Сертифицированный консультант FIDIC</a:t>
            </a:r>
            <a:endParaRPr lang="en-US" sz="1050" dirty="0"/>
          </a:p>
        </p:txBody>
      </p:sp>
      <p:sp>
        <p:nvSpPr>
          <p:cNvPr id="13" name="bc8_12"/>
          <p:cNvSpPr/>
          <p:nvPr/>
        </p:nvSpPr>
        <p:spPr>
          <a:xfrm>
            <a:off x="685800" y="3950208"/>
            <a:ext cx="4572000" cy="0"/>
          </a:xfrm>
          <a:prstGeom prst="line">
            <a:avLst/>
          </a:prstGeom>
          <a:noFill/>
          <a:ln w="9525">
            <a:solidFill>
              <a:srgbClr val="D6CCBC"/>
            </a:solidFill>
            <a:prstDash val="solid"/>
          </a:ln>
        </p:spPr>
      </p:sp>
      <p:sp>
        <p:nvSpPr>
          <p:cNvPr id="14" name="bc8_13"/>
          <p:cNvSpPr txBox="1"/>
          <p:nvPr/>
        </p:nvSpPr>
        <p:spPr>
          <a:xfrm>
            <a:off x="685800" y="404164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9B7C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ADB</a:t>
            </a:r>
            <a:endParaRPr lang="en-US" sz="1300" dirty="0"/>
          </a:p>
        </p:txBody>
      </p:sp>
      <p:sp>
        <p:nvSpPr>
          <p:cNvPr id="15" name="bc8_14"/>
          <p:cNvSpPr txBox="1"/>
          <p:nvPr/>
        </p:nvSpPr>
        <p:spPr>
          <a:xfrm>
            <a:off x="2011680" y="407822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Аккредитация АБР: контракты и споры</a:t>
            </a:r>
            <a:endParaRPr lang="en-US" sz="1050" dirty="0"/>
          </a:p>
        </p:txBody>
      </p:sp>
      <p:sp>
        <p:nvSpPr>
          <p:cNvPr id="16" name="bc8_15"/>
          <p:cNvSpPr/>
          <p:nvPr/>
        </p:nvSpPr>
        <p:spPr>
          <a:xfrm>
            <a:off x="685800" y="4425696"/>
            <a:ext cx="4572000" cy="0"/>
          </a:xfrm>
          <a:prstGeom prst="line">
            <a:avLst/>
          </a:prstGeom>
          <a:noFill/>
          <a:ln w="9525">
            <a:solidFill>
              <a:srgbClr val="D6CCBC"/>
            </a:solidFill>
            <a:prstDash val="solid"/>
          </a:ln>
        </p:spPr>
      </p:sp>
      <p:sp>
        <p:nvSpPr>
          <p:cNvPr id="17" name="bc8_16"/>
          <p:cNvSpPr txBox="1"/>
          <p:nvPr/>
        </p:nvSpPr>
        <p:spPr>
          <a:xfrm>
            <a:off x="685800" y="451713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9B7C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MCIArb</a:t>
            </a:r>
            <a:endParaRPr lang="en-US" sz="1300" dirty="0"/>
          </a:p>
        </p:txBody>
      </p:sp>
      <p:sp>
        <p:nvSpPr>
          <p:cNvPr id="18" name="bc8_17"/>
          <p:cNvSpPr txBox="1"/>
          <p:nvPr/>
        </p:nvSpPr>
        <p:spPr>
          <a:xfrm>
            <a:off x="2011680" y="45537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Член Королевского института арбитров</a:t>
            </a:r>
            <a:endParaRPr lang="en-US" sz="1050" dirty="0"/>
          </a:p>
        </p:txBody>
      </p:sp>
      <p:sp>
        <p:nvSpPr>
          <p:cNvPr id="19" name="bc8_18"/>
          <p:cNvSpPr/>
          <p:nvPr/>
        </p:nvSpPr>
        <p:spPr>
          <a:xfrm>
            <a:off x="685800" y="4901184"/>
            <a:ext cx="4572000" cy="0"/>
          </a:xfrm>
          <a:prstGeom prst="line">
            <a:avLst/>
          </a:prstGeom>
          <a:noFill/>
          <a:ln w="9525">
            <a:solidFill>
              <a:srgbClr val="D6CCBC"/>
            </a:solidFill>
            <a:prstDash val="solid"/>
          </a:ln>
        </p:spPr>
      </p:sp>
      <p:sp>
        <p:nvSpPr>
          <p:cNvPr id="20" name="bc8_19"/>
          <p:cNvSpPr txBox="1"/>
          <p:nvPr/>
        </p:nvSpPr>
        <p:spPr>
          <a:xfrm>
            <a:off x="685800" y="499262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9B7C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DRBF</a:t>
            </a:r>
            <a:endParaRPr lang="en-US" sz="1300" dirty="0"/>
          </a:p>
        </p:txBody>
      </p:sp>
      <p:sp>
        <p:nvSpPr>
          <p:cNvPr id="21" name="bc8_20"/>
          <p:cNvSpPr txBox="1"/>
          <p:nvPr/>
        </p:nvSpPr>
        <p:spPr>
          <a:xfrm>
            <a:off x="2011680" y="50292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Практик Совета по разрешению споров</a:t>
            </a:r>
            <a:endParaRPr lang="en-US" sz="1050" dirty="0"/>
          </a:p>
        </p:txBody>
      </p:sp>
      <p:sp>
        <p:nvSpPr>
          <p:cNvPr id="22" name="bc8_21"/>
          <p:cNvSpPr/>
          <p:nvPr/>
        </p:nvSpPr>
        <p:spPr>
          <a:xfrm>
            <a:off x="685800" y="5376672"/>
            <a:ext cx="4572000" cy="0"/>
          </a:xfrm>
          <a:prstGeom prst="line">
            <a:avLst/>
          </a:prstGeom>
          <a:noFill/>
          <a:ln w="9525">
            <a:solidFill>
              <a:srgbClr val="D6CCBC"/>
            </a:solidFill>
            <a:prstDash val="solid"/>
          </a:ln>
        </p:spPr>
      </p:sp>
      <p:sp>
        <p:nvSpPr>
          <p:cNvPr id="23" name="bc8_22"/>
          <p:cNvSpPr txBox="1"/>
          <p:nvPr/>
        </p:nvSpPr>
        <p:spPr>
          <a:xfrm>
            <a:off x="685800" y="546811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9B7C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ICAC</a:t>
            </a:r>
            <a:endParaRPr lang="en-US" sz="1300" dirty="0"/>
          </a:p>
        </p:txBody>
      </p:sp>
      <p:sp>
        <p:nvSpPr>
          <p:cNvPr id="24" name="bc8_23"/>
          <p:cNvSpPr txBox="1"/>
          <p:nvPr/>
        </p:nvSpPr>
        <p:spPr>
          <a:xfrm>
            <a:off x="2011680" y="55046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Арбитр МКАС при ТПП Республики Узбекистан</a:t>
            </a:r>
            <a:endParaRPr lang="en-US" sz="1050" dirty="0"/>
          </a:p>
        </p:txBody>
      </p:sp>
      <p:sp>
        <p:nvSpPr>
          <p:cNvPr id="25" name="bc8_24"/>
          <p:cNvSpPr txBox="1"/>
          <p:nvPr/>
        </p:nvSpPr>
        <p:spPr>
          <a:xfrm>
            <a:off x="5897880" y="82296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9B7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МФИ, АРБИТРАЖНЫЕ И ПРОФЕССИОНАЛЬНЫЕ СООБЩЕСТВА</a:t>
            </a:r>
            <a:endParaRPr lang="en-US" sz="850" dirty="0"/>
          </a:p>
        </p:txBody>
      </p:sp>
      <p:sp>
        <p:nvSpPr>
          <p:cNvPr id="26" name="bc8_25"/>
          <p:cNvSpPr/>
          <p:nvPr/>
        </p:nvSpPr>
        <p:spPr>
          <a:xfrm>
            <a:off x="5897880" y="1188720"/>
            <a:ext cx="1280160" cy="1097280"/>
          </a:xfrm>
          <a:prstGeom prst="rect">
            <a:avLst/>
          </a:prstGeom>
          <a:solidFill>
            <a:srgbClr val="FBF8F2"/>
          </a:solidFill>
          <a:ln w="6350">
            <a:solidFill>
              <a:srgbClr val="D6CCBC"/>
            </a:solidFill>
            <a:prstDash val="solid"/>
          </a:ln>
        </p:spPr>
      </p:sp>
      <p:pic>
        <p:nvPicPr>
          <p:cNvPr id="27" name="bc8_26" descr="/home/user/bridge-astro/presentation/company-2026/assets/logo-0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6062472" y="1422119"/>
            <a:ext cx="950976" cy="630481"/>
          </a:xfrm>
          <a:prstGeom prst="rect">
            <a:avLst/>
          </a:prstGeom>
        </p:spPr>
      </p:pic>
      <p:sp>
        <p:nvSpPr>
          <p:cNvPr id="28" name="bc8_27"/>
          <p:cNvSpPr/>
          <p:nvPr/>
        </p:nvSpPr>
        <p:spPr>
          <a:xfrm>
            <a:off x="7360920" y="1188720"/>
            <a:ext cx="1280160" cy="1097280"/>
          </a:xfrm>
          <a:prstGeom prst="rect">
            <a:avLst/>
          </a:prstGeom>
          <a:solidFill>
            <a:srgbClr val="FBF8F2"/>
          </a:solidFill>
          <a:ln w="6350">
            <a:solidFill>
              <a:srgbClr val="D6CCBC"/>
            </a:solidFill>
            <a:prstDash val="solid"/>
          </a:ln>
        </p:spPr>
      </p:sp>
      <p:pic>
        <p:nvPicPr>
          <p:cNvPr id="29" name="bc8_28" descr="/home/user/bridge-astro/presentation/company-2026/assets/logo-1.png">    </p:cNvPr>
          <p:cNvPicPr>
            <a:picLocks noChangeAspect="1"/>
          </p:cNvPicPr>
          <p:nvPr/>
        </p:nvPicPr>
        <p:blipFill>
          <a:blip r:embed="rId2">
            <a:alphaModFix amt="90000"/>
          </a:blip>
          <a:stretch>
            <a:fillRect/>
          </a:stretch>
        </p:blipFill>
        <p:spPr>
          <a:xfrm>
            <a:off x="7525512" y="1642526"/>
            <a:ext cx="950976" cy="189668"/>
          </a:xfrm>
          <a:prstGeom prst="rect">
            <a:avLst/>
          </a:prstGeom>
        </p:spPr>
      </p:pic>
      <p:sp>
        <p:nvSpPr>
          <p:cNvPr id="30" name="bc8_29"/>
          <p:cNvSpPr/>
          <p:nvPr/>
        </p:nvSpPr>
        <p:spPr>
          <a:xfrm>
            <a:off x="8823960" y="1188720"/>
            <a:ext cx="1280160" cy="1097280"/>
          </a:xfrm>
          <a:prstGeom prst="rect">
            <a:avLst/>
          </a:prstGeom>
          <a:solidFill>
            <a:srgbClr val="FBF8F2"/>
          </a:solidFill>
          <a:ln w="6350">
            <a:solidFill>
              <a:srgbClr val="D6CCBC"/>
            </a:solidFill>
            <a:prstDash val="solid"/>
          </a:ln>
        </p:spPr>
      </p:sp>
      <p:pic>
        <p:nvPicPr>
          <p:cNvPr id="31" name="bc8_30" descr="/home/user/bridge-astro/presentation/company-2026/assets/logo-2.png">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8988552" y="1648252"/>
            <a:ext cx="950976" cy="178215"/>
          </a:xfrm>
          <a:prstGeom prst="rect">
            <a:avLst/>
          </a:prstGeom>
        </p:spPr>
      </p:pic>
      <p:sp>
        <p:nvSpPr>
          <p:cNvPr id="32" name="bc8_31"/>
          <p:cNvSpPr/>
          <p:nvPr/>
        </p:nvSpPr>
        <p:spPr>
          <a:xfrm>
            <a:off x="10287000" y="1188720"/>
            <a:ext cx="1280160" cy="1097280"/>
          </a:xfrm>
          <a:prstGeom prst="rect">
            <a:avLst/>
          </a:prstGeom>
          <a:solidFill>
            <a:srgbClr val="FBF8F2"/>
          </a:solidFill>
          <a:ln w="6350">
            <a:solidFill>
              <a:srgbClr val="D6CCBC"/>
            </a:solidFill>
            <a:prstDash val="solid"/>
          </a:ln>
        </p:spPr>
      </p:sp>
      <p:pic>
        <p:nvPicPr>
          <p:cNvPr id="33" name="bc8_32" descr="/home/user/bridge-astro/presentation/company-2026/assets/logo-3.png">    </p:cNvPr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>
            <a:off x="10451592" y="1576178"/>
            <a:ext cx="950976" cy="322365"/>
          </a:xfrm>
          <a:prstGeom prst="rect">
            <a:avLst/>
          </a:prstGeom>
        </p:spPr>
      </p:pic>
      <p:sp>
        <p:nvSpPr>
          <p:cNvPr id="34" name="bc8_33"/>
          <p:cNvSpPr/>
          <p:nvPr/>
        </p:nvSpPr>
        <p:spPr>
          <a:xfrm>
            <a:off x="5897880" y="2468880"/>
            <a:ext cx="1280160" cy="1097280"/>
          </a:xfrm>
          <a:prstGeom prst="rect">
            <a:avLst/>
          </a:prstGeom>
          <a:solidFill>
            <a:srgbClr val="FBF8F2"/>
          </a:solidFill>
          <a:ln w="6350">
            <a:solidFill>
              <a:srgbClr val="D6CCBC"/>
            </a:solidFill>
            <a:prstDash val="solid"/>
          </a:ln>
        </p:spPr>
      </p:sp>
      <p:pic>
        <p:nvPicPr>
          <p:cNvPr id="35" name="bc8_34" descr="/home/user/bridge-astro/presentation/company-2026/assets/logo-4.png">    </p:cNvPr>
          <p:cNvPicPr>
            <a:picLocks noChangeAspect="1"/>
          </p:cNvPicPr>
          <p:nvPr/>
        </p:nvPicPr>
        <p:blipFill>
          <a:blip r:embed="rId5">
            <a:alphaModFix amt="90000"/>
          </a:blip>
          <a:stretch>
            <a:fillRect/>
          </a:stretch>
        </p:blipFill>
        <p:spPr>
          <a:xfrm>
            <a:off x="6239256" y="2697480"/>
            <a:ext cx="597408" cy="640080"/>
          </a:xfrm>
          <a:prstGeom prst="rect">
            <a:avLst/>
          </a:prstGeom>
        </p:spPr>
      </p:pic>
      <p:sp>
        <p:nvSpPr>
          <p:cNvPr id="36" name="bc8_35"/>
          <p:cNvSpPr/>
          <p:nvPr/>
        </p:nvSpPr>
        <p:spPr>
          <a:xfrm>
            <a:off x="7360920" y="2468880"/>
            <a:ext cx="1280160" cy="1097280"/>
          </a:xfrm>
          <a:prstGeom prst="rect">
            <a:avLst/>
          </a:prstGeom>
          <a:solidFill>
            <a:srgbClr val="FBF8F2"/>
          </a:solidFill>
          <a:ln w="6350">
            <a:solidFill>
              <a:srgbClr val="D6CCBC"/>
            </a:solidFill>
            <a:prstDash val="solid"/>
          </a:ln>
        </p:spPr>
      </p:sp>
      <p:pic>
        <p:nvPicPr>
          <p:cNvPr id="37" name="bc8_36" descr="/home/user/bridge-astro/presentation/company-2026/assets/logo-5.png">    </p:cNvPr>
          <p:cNvPicPr>
            <a:picLocks noChangeAspect="1"/>
          </p:cNvPicPr>
          <p:nvPr/>
        </p:nvPicPr>
        <p:blipFill>
          <a:blip r:embed="rId6">
            <a:alphaModFix amt="90000"/>
          </a:blip>
          <a:stretch>
            <a:fillRect/>
          </a:stretch>
        </p:blipFill>
        <p:spPr>
          <a:xfrm>
            <a:off x="7525512" y="2818940"/>
            <a:ext cx="950976" cy="397159"/>
          </a:xfrm>
          <a:prstGeom prst="rect">
            <a:avLst/>
          </a:prstGeom>
        </p:spPr>
      </p:pic>
      <p:sp>
        <p:nvSpPr>
          <p:cNvPr id="38" name="bc8_37"/>
          <p:cNvSpPr/>
          <p:nvPr/>
        </p:nvSpPr>
        <p:spPr>
          <a:xfrm>
            <a:off x="8823960" y="2468880"/>
            <a:ext cx="1280160" cy="1097280"/>
          </a:xfrm>
          <a:prstGeom prst="rect">
            <a:avLst/>
          </a:prstGeom>
          <a:solidFill>
            <a:srgbClr val="FBF8F2"/>
          </a:solidFill>
          <a:ln w="6350">
            <a:solidFill>
              <a:srgbClr val="D6CCBC"/>
            </a:solidFill>
            <a:prstDash val="solid"/>
          </a:ln>
        </p:spPr>
      </p:sp>
      <p:pic>
        <p:nvPicPr>
          <p:cNvPr id="39" name="bc8_38" descr="/home/user/bridge-astro/presentation/company-2026/assets/logo-6.png">    </p:cNvPr>
          <p:cNvPicPr>
            <a:picLocks noChangeAspect="1"/>
          </p:cNvPicPr>
          <p:nvPr/>
        </p:nvPicPr>
        <p:blipFill>
          <a:blip r:embed="rId7">
            <a:alphaModFix amt="90000"/>
          </a:blip>
          <a:stretch>
            <a:fillRect/>
          </a:stretch>
        </p:blipFill>
        <p:spPr>
          <a:xfrm>
            <a:off x="8988552" y="2883159"/>
            <a:ext cx="950976" cy="268722"/>
          </a:xfrm>
          <a:prstGeom prst="rect">
            <a:avLst/>
          </a:prstGeom>
        </p:spPr>
      </p:pic>
      <p:sp>
        <p:nvSpPr>
          <p:cNvPr id="40" name="bc8_39"/>
          <p:cNvSpPr/>
          <p:nvPr/>
        </p:nvSpPr>
        <p:spPr>
          <a:xfrm>
            <a:off x="10287000" y="2468880"/>
            <a:ext cx="1280160" cy="1097280"/>
          </a:xfrm>
          <a:prstGeom prst="rect">
            <a:avLst/>
          </a:prstGeom>
          <a:solidFill>
            <a:srgbClr val="FBF8F2"/>
          </a:solidFill>
          <a:ln w="6350">
            <a:solidFill>
              <a:srgbClr val="D6CCBC"/>
            </a:solidFill>
            <a:prstDash val="solid"/>
          </a:ln>
        </p:spPr>
      </p:sp>
      <p:pic>
        <p:nvPicPr>
          <p:cNvPr id="41" name="bc8_40" descr="/home/user/bridge-astro/presentation/company-2026/assets/logo-7.png">    </p:cNvPr>
          <p:cNvPicPr>
            <a:picLocks noChangeAspect="1"/>
          </p:cNvPicPr>
          <p:nvPr/>
        </p:nvPicPr>
        <p:blipFill>
          <a:blip r:embed="rId8">
            <a:alphaModFix amt="90000"/>
          </a:blip>
          <a:stretch>
            <a:fillRect/>
          </a:stretch>
        </p:blipFill>
        <p:spPr>
          <a:xfrm>
            <a:off x="10547477" y="2697480"/>
            <a:ext cx="759206" cy="640080"/>
          </a:xfrm>
          <a:prstGeom prst="rect">
            <a:avLst/>
          </a:prstGeom>
        </p:spPr>
      </p:pic>
      <p:sp>
        <p:nvSpPr>
          <p:cNvPr id="42" name="bc8_41"/>
          <p:cNvSpPr txBox="1"/>
          <p:nvPr/>
        </p:nvSpPr>
        <p:spPr>
          <a:xfrm>
            <a:off x="5852160" y="38404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D8BD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6000" dirty="0"/>
          </a:p>
        </p:txBody>
      </p:sp>
      <p:sp>
        <p:nvSpPr>
          <p:cNvPr id="43" name="bc8_42"/>
          <p:cNvSpPr txBox="1"/>
          <p:nvPr/>
        </p:nvSpPr>
        <p:spPr>
          <a:xfrm>
            <a:off x="6355080" y="397764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i="1" dirty="0">
                <a:solidFill>
                  <a:srgbClr val="1A18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Сильный контракт создаёт не барьеры, а ясность, доверие и общий путь к результату.</a:t>
            </a:r>
            <a:endParaRPr lang="en-US" sz="2100" dirty="0"/>
          </a:p>
        </p:txBody>
      </p:sp>
      <p:sp>
        <p:nvSpPr>
          <p:cNvPr id="44" name="bc8_43"/>
          <p:cNvSpPr txBox="1"/>
          <p:nvPr/>
        </p:nvSpPr>
        <p:spPr>
          <a:xfrm>
            <a:off x="6355080" y="534924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6E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ЛАРИСА БЕЛОУСОВА, ОСНОВАТЕЛЬ</a:t>
            </a:r>
            <a:endParaRPr lang="en-US" sz="8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39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97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139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600"/>
                                  </p:stCondLst>
                                  <p:iterate type="wd">
                                    <p:tmPct val="8000"/>
                                  </p:iterate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5" dur="7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6" dur="700" fill="hold" decel="1000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 animBg="1"/>
      <p:bldP spid="6" grpId="0"/>
      <p:bldP spid="7" grpId="0"/>
      <p:bldP spid="8" grpId="0"/>
      <p:bldP spid="9" grpId="0"/>
      <p:bldP spid="10" grpId="0" animBg="1"/>
      <p:bldP spid="11" grpId="0"/>
      <p:bldP spid="12" grpId="0"/>
      <p:bldP spid="13" grpId="0" animBg="1"/>
      <p:bldP spid="14" grpId="0"/>
      <p:bldP spid="15" grpId="0"/>
      <p:bldP spid="16" grpId="0" animBg="1"/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/>
      <p:bldP spid="26" grpId="0" animBg="1"/>
      <p:bldP spid="28" grpId="0" animBg="1"/>
      <p:bldP spid="30" grpId="0" animBg="1"/>
      <p:bldP spid="32" grpId="0" animBg="1"/>
      <p:bldP spid="34" grpId="0" animBg="1"/>
      <p:bldP spid="36" grpId="0" animBg="1"/>
      <p:bldP spid="38" grpId="0" animBg="1"/>
      <p:bldP spid="40" grpId="0" animBg="1"/>
      <p:bldP spid="42" grpId="0"/>
      <p:bldP spid="43" grpId="0"/>
      <p:bldP spid="4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c9_1" descr="/home/user/bridge-astro/presentation/company-2026/assets/wh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c9_2"/>
          <p:cNvSpPr txBox="1"/>
          <p:nvPr/>
        </p:nvSpPr>
        <p:spPr>
          <a:xfrm>
            <a:off x="9692640" y="4389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pPr algn="r" indent="0" marL="0">
              <a:buNone/>
            </a:pPr>
            <a:r>
              <a:rPr lang="en-US" sz="900" b="1" spc="200" kern="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10</a:t>
            </a:r>
            <a:endParaRPr lang="en-US" sz="900" dirty="0"/>
          </a:p>
        </p:txBody>
      </p:sp>
      <p:sp>
        <p:nvSpPr>
          <p:cNvPr id="4" name="bc9_3"/>
          <p:cNvSpPr txBox="1"/>
          <p:nvPr/>
        </p:nvSpPr>
        <p:spPr>
          <a:xfrm>
            <a:off x="68580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bridgeconsult.uz</a:t>
            </a:r>
            <a:endParaRPr lang="en-US" sz="800" dirty="0"/>
          </a:p>
        </p:txBody>
      </p:sp>
      <p:sp>
        <p:nvSpPr>
          <p:cNvPr id="5" name="bc9_4"/>
          <p:cNvSpPr txBox="1"/>
          <p:nvPr/>
        </p:nvSpPr>
        <p:spPr>
          <a:xfrm>
            <a:off x="877824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41.2995° N  ·  69.2401° E</a:t>
            </a:r>
            <a:endParaRPr lang="en-US" sz="800" dirty="0"/>
          </a:p>
        </p:txBody>
      </p:sp>
      <p:sp>
        <p:nvSpPr>
          <p:cNvPr id="6" name="bc9_5"/>
          <p:cNvSpPr/>
          <p:nvPr/>
        </p:nvSpPr>
        <p:spPr>
          <a:xfrm>
            <a:off x="685800" y="923544"/>
            <a:ext cx="384048" cy="0"/>
          </a:xfrm>
          <a:prstGeom prst="line">
            <a:avLst/>
          </a:prstGeom>
          <a:noFill/>
          <a:ln w="12700">
            <a:solidFill>
              <a:srgbClr val="D8BD96"/>
            </a:solidFill>
            <a:prstDash val="solid"/>
          </a:ln>
        </p:spPr>
      </p:sp>
      <p:sp>
        <p:nvSpPr>
          <p:cNvPr id="7" name="bc9_6"/>
          <p:cNvSpPr txBox="1"/>
          <p:nvPr/>
        </p:nvSpPr>
        <p:spPr>
          <a:xfrm>
            <a:off x="1216152" y="8229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D8BD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ПОДХОД</a:t>
            </a:r>
            <a:endParaRPr lang="en-US" sz="900" dirty="0"/>
          </a:p>
        </p:txBody>
      </p:sp>
      <p:sp>
        <p:nvSpPr>
          <p:cNvPr id="8" name="bc9_7"/>
          <p:cNvSpPr txBox="1"/>
          <p:nvPr/>
        </p:nvSpPr>
        <p:spPr>
          <a:xfrm>
            <a:off x="667512" y="1188720"/>
            <a:ext cx="7315200" cy="715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Почему выбирают</a:t>
            </a:r>
            <a:endParaRPr lang="en-US" sz="4400" dirty="0"/>
          </a:p>
        </p:txBody>
      </p:sp>
      <p:sp>
        <p:nvSpPr>
          <p:cNvPr id="9" name="bc9_8"/>
          <p:cNvSpPr txBox="1"/>
          <p:nvPr/>
        </p:nvSpPr>
        <p:spPr>
          <a:xfrm>
            <a:off x="667512" y="1846763"/>
            <a:ext cx="7315200" cy="715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i="1" dirty="0">
                <a:solidFill>
                  <a:srgbClr val="D8BD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Bridge Consult</a:t>
            </a:r>
            <a:endParaRPr lang="en-US" sz="4400" dirty="0"/>
          </a:p>
        </p:txBody>
      </p:sp>
      <p:sp>
        <p:nvSpPr>
          <p:cNvPr id="10" name="bc9_9"/>
          <p:cNvSpPr/>
          <p:nvPr/>
        </p:nvSpPr>
        <p:spPr>
          <a:xfrm>
            <a:off x="685800" y="3611880"/>
            <a:ext cx="3291840" cy="0"/>
          </a:xfrm>
          <a:prstGeom prst="line">
            <a:avLst/>
          </a:prstGeom>
          <a:noFill/>
          <a:ln w="9525">
            <a:solidFill>
              <a:srgbClr val="D8BD96"/>
            </a:solidFill>
            <a:prstDash val="solid"/>
          </a:ln>
        </p:spPr>
      </p:sp>
      <p:sp>
        <p:nvSpPr>
          <p:cNvPr id="11" name="bc9_10"/>
          <p:cNvSpPr txBox="1"/>
          <p:nvPr/>
        </p:nvSpPr>
        <p:spPr>
          <a:xfrm>
            <a:off x="685800" y="37947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rgbClr val="D8BD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12" name="bc9_11"/>
          <p:cNvSpPr txBox="1"/>
          <p:nvPr/>
        </p:nvSpPr>
        <p:spPr>
          <a:xfrm>
            <a:off x="685800" y="4434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Международный стандарт</a:t>
            </a:r>
            <a:endParaRPr lang="en-US" sz="1700" dirty="0"/>
          </a:p>
        </p:txBody>
      </p:sp>
      <p:sp>
        <p:nvSpPr>
          <p:cNvPr id="13" name="bc9_12"/>
          <p:cNvSpPr txBox="1"/>
          <p:nvPr/>
        </p:nvSpPr>
        <p:spPr>
          <a:xfrm>
            <a:off x="685800" y="489204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Глубокое понимание проформ FIDIC, EPC-контрактов и требований международных финансовых институтов.</a:t>
            </a:r>
            <a:endParaRPr lang="en-US" sz="1150" dirty="0"/>
          </a:p>
        </p:txBody>
      </p:sp>
      <p:sp>
        <p:nvSpPr>
          <p:cNvPr id="14" name="bc9_13"/>
          <p:cNvSpPr/>
          <p:nvPr/>
        </p:nvSpPr>
        <p:spPr>
          <a:xfrm>
            <a:off x="4389120" y="3611880"/>
            <a:ext cx="3291840" cy="0"/>
          </a:xfrm>
          <a:prstGeom prst="line">
            <a:avLst/>
          </a:prstGeom>
          <a:noFill/>
          <a:ln w="9525">
            <a:solidFill>
              <a:srgbClr val="D8BD96"/>
            </a:solidFill>
            <a:prstDash val="solid"/>
          </a:ln>
        </p:spPr>
      </p:sp>
      <p:sp>
        <p:nvSpPr>
          <p:cNvPr id="15" name="bc9_14"/>
          <p:cNvSpPr txBox="1"/>
          <p:nvPr/>
        </p:nvSpPr>
        <p:spPr>
          <a:xfrm>
            <a:off x="4389120" y="37947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rgbClr val="D8BD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6" name="bc9_15"/>
          <p:cNvSpPr txBox="1"/>
          <p:nvPr/>
        </p:nvSpPr>
        <p:spPr>
          <a:xfrm>
            <a:off x="4389120" y="4434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Локальная адаптация</a:t>
            </a:r>
            <a:endParaRPr lang="en-US" sz="1700" dirty="0"/>
          </a:p>
        </p:txBody>
      </p:sp>
      <p:sp>
        <p:nvSpPr>
          <p:cNvPr id="17" name="bc9_16"/>
          <p:cNvSpPr txBox="1"/>
          <p:nvPr/>
        </p:nvSpPr>
        <p:spPr>
          <a:xfrm>
            <a:off x="4389120" y="489204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Интеграция международных контрактов в правовое поле Республики Узбекистан без потери их юридической силы.</a:t>
            </a:r>
            <a:endParaRPr lang="en-US" sz="1150" dirty="0"/>
          </a:p>
        </p:txBody>
      </p:sp>
      <p:sp>
        <p:nvSpPr>
          <p:cNvPr id="18" name="bc9_17"/>
          <p:cNvSpPr/>
          <p:nvPr/>
        </p:nvSpPr>
        <p:spPr>
          <a:xfrm>
            <a:off x="8092440" y="3611880"/>
            <a:ext cx="3291840" cy="0"/>
          </a:xfrm>
          <a:prstGeom prst="line">
            <a:avLst/>
          </a:prstGeom>
          <a:noFill/>
          <a:ln w="9525">
            <a:solidFill>
              <a:srgbClr val="D8BD96"/>
            </a:solidFill>
            <a:prstDash val="solid"/>
          </a:ln>
        </p:spPr>
      </p:sp>
      <p:sp>
        <p:nvSpPr>
          <p:cNvPr id="19" name="bc9_18"/>
          <p:cNvSpPr txBox="1"/>
          <p:nvPr/>
        </p:nvSpPr>
        <p:spPr>
          <a:xfrm>
            <a:off x="8092440" y="37947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rgbClr val="D8BD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20" name="bc9_19"/>
          <p:cNvSpPr txBox="1"/>
          <p:nvPr/>
        </p:nvSpPr>
        <p:spPr>
          <a:xfrm>
            <a:off x="8092440" y="4434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Комплексная защита</a:t>
            </a:r>
            <a:endParaRPr lang="en-US" sz="1700" dirty="0"/>
          </a:p>
        </p:txBody>
      </p:sp>
      <p:sp>
        <p:nvSpPr>
          <p:cNvPr id="21" name="bc9_20"/>
          <p:cNvSpPr txBox="1"/>
          <p:nvPr/>
        </p:nvSpPr>
        <p:spPr>
          <a:xfrm>
            <a:off x="8092440" y="489204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Интересы клиента на всех уровнях: от сметного аудита и претензий до представительства в арбитраже.</a:t>
            </a:r>
            <a:endParaRPr lang="en-US" sz="11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 decel="10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 decel="10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9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9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8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9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9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9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9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8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9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9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9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8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 animBg="1"/>
      <p:bldP spid="7" grpId="0"/>
      <p:bldP spid="8" grpId="0"/>
      <p:bldP spid="9" grpId="0"/>
      <p:bldP spid="10" grpId="0" animBg="1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c10_1" descr="/home/user/bridge-astro/presentation/company-2026/assets/contac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bc10_2" descr="/home/user/bridge-astro/presentation/company-2026/assets/logo-pap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2920"/>
            <a:ext cx="1828800" cy="687543"/>
          </a:xfrm>
          <a:prstGeom prst="rect">
            <a:avLst/>
          </a:prstGeom>
        </p:spPr>
      </p:pic>
      <p:sp>
        <p:nvSpPr>
          <p:cNvPr id="4" name="bc10_3"/>
          <p:cNvSpPr txBox="1"/>
          <p:nvPr/>
        </p:nvSpPr>
        <p:spPr>
          <a:xfrm>
            <a:off x="9692640" y="4389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algn="r" indent="0" marL="0">
              <a:buNone/>
            </a:pPr>
            <a:r>
              <a:rPr lang="en-US" sz="900" b="1" spc="200" kern="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10</a:t>
            </a:r>
            <a:endParaRPr lang="en-US" sz="900" dirty="0"/>
          </a:p>
        </p:txBody>
      </p:sp>
      <p:sp>
        <p:nvSpPr>
          <p:cNvPr id="5" name="bc10_4"/>
          <p:cNvSpPr/>
          <p:nvPr/>
        </p:nvSpPr>
        <p:spPr>
          <a:xfrm>
            <a:off x="685800" y="1883664"/>
            <a:ext cx="384048" cy="0"/>
          </a:xfrm>
          <a:prstGeom prst="line">
            <a:avLst/>
          </a:prstGeom>
          <a:noFill/>
          <a:ln w="12700">
            <a:solidFill>
              <a:srgbClr val="D8BD96"/>
            </a:solidFill>
            <a:prstDash val="solid"/>
          </a:ln>
        </p:spPr>
      </p:sp>
      <p:sp>
        <p:nvSpPr>
          <p:cNvPr id="6" name="bc10_5"/>
          <p:cNvSpPr txBox="1"/>
          <p:nvPr/>
        </p:nvSpPr>
        <p:spPr>
          <a:xfrm>
            <a:off x="1216152" y="17830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D8BD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КОНТАКТЫ</a:t>
            </a:r>
            <a:endParaRPr lang="en-US" sz="900" dirty="0"/>
          </a:p>
        </p:txBody>
      </p:sp>
      <p:sp>
        <p:nvSpPr>
          <p:cNvPr id="7" name="bc10_6"/>
          <p:cNvSpPr txBox="1"/>
          <p:nvPr/>
        </p:nvSpPr>
        <p:spPr>
          <a:xfrm>
            <a:off x="658368" y="21031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Начнём</a:t>
            </a:r>
            <a:endParaRPr lang="en-US" sz="5800" dirty="0"/>
          </a:p>
        </p:txBody>
      </p:sp>
      <p:sp>
        <p:nvSpPr>
          <p:cNvPr id="8" name="bc10_7"/>
          <p:cNvSpPr txBox="1"/>
          <p:nvPr/>
        </p:nvSpPr>
        <p:spPr>
          <a:xfrm>
            <a:off x="658368" y="29260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0" i="1" dirty="0">
                <a:solidFill>
                  <a:srgbClr val="D8BD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 разговора.</a:t>
            </a:r>
            <a:endParaRPr lang="en-US" sz="5800" dirty="0"/>
          </a:p>
        </p:txBody>
      </p:sp>
      <p:sp>
        <p:nvSpPr>
          <p:cNvPr id="9" name="bc10_8"/>
          <p:cNvSpPr txBox="1"/>
          <p:nvPr/>
        </p:nvSpPr>
        <p:spPr>
          <a:xfrm>
            <a:off x="685800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50" kern="0" dirty="0">
                <a:solidFill>
                  <a:srgbClr val="D8BD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ТЕЛЕФОН</a:t>
            </a:r>
            <a:endParaRPr lang="en-US" sz="800" dirty="0"/>
          </a:p>
        </p:txBody>
      </p:sp>
      <p:sp>
        <p:nvSpPr>
          <p:cNvPr id="10" name="bc10_9"/>
          <p:cNvSpPr txBox="1"/>
          <p:nvPr/>
        </p:nvSpPr>
        <p:spPr>
          <a:xfrm>
            <a:off x="685800" y="444398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+998 33 000 15 30</a:t>
            </a:r>
            <a:endParaRPr lang="en-US" sz="1400" dirty="0"/>
          </a:p>
        </p:txBody>
      </p:sp>
      <p:sp>
        <p:nvSpPr>
          <p:cNvPr id="11" name="bc10_10"/>
          <p:cNvSpPr txBox="1"/>
          <p:nvPr/>
        </p:nvSpPr>
        <p:spPr>
          <a:xfrm>
            <a:off x="3977640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50" kern="0" dirty="0">
                <a:solidFill>
                  <a:srgbClr val="D8BD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</a:t>
            </a:r>
            <a:endParaRPr lang="en-US" sz="800" dirty="0"/>
          </a:p>
        </p:txBody>
      </p:sp>
      <p:sp>
        <p:nvSpPr>
          <p:cNvPr id="12" name="bc10_11"/>
          <p:cNvSpPr txBox="1"/>
          <p:nvPr/>
        </p:nvSpPr>
        <p:spPr>
          <a:xfrm>
            <a:off x="3977640" y="444398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info@bridgeconsult.uz</a:t>
            </a:r>
            <a:endParaRPr lang="en-US" sz="1400" dirty="0"/>
          </a:p>
        </p:txBody>
      </p:sp>
      <p:sp>
        <p:nvSpPr>
          <p:cNvPr id="13" name="bc10_12"/>
          <p:cNvSpPr txBox="1"/>
          <p:nvPr/>
        </p:nvSpPr>
        <p:spPr>
          <a:xfrm>
            <a:off x="685800" y="48920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50" kern="0" dirty="0">
                <a:solidFill>
                  <a:srgbClr val="D8BD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САЙТ</a:t>
            </a:r>
            <a:endParaRPr lang="en-US" sz="800" dirty="0"/>
          </a:p>
        </p:txBody>
      </p:sp>
      <p:sp>
        <p:nvSpPr>
          <p:cNvPr id="14" name="bc10_13"/>
          <p:cNvSpPr txBox="1"/>
          <p:nvPr/>
        </p:nvSpPr>
        <p:spPr>
          <a:xfrm>
            <a:off x="685800" y="512978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bridgeconsult.uz</a:t>
            </a:r>
            <a:endParaRPr lang="en-US" sz="1400" dirty="0"/>
          </a:p>
        </p:txBody>
      </p:sp>
      <p:sp>
        <p:nvSpPr>
          <p:cNvPr id="15" name="bc10_14"/>
          <p:cNvSpPr txBox="1"/>
          <p:nvPr/>
        </p:nvSpPr>
        <p:spPr>
          <a:xfrm>
            <a:off x="3977640" y="48920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50" kern="0" dirty="0">
                <a:solidFill>
                  <a:srgbClr val="D8BD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</a:t>
            </a:r>
            <a:endParaRPr lang="en-US" sz="800" dirty="0"/>
          </a:p>
        </p:txBody>
      </p:sp>
      <p:sp>
        <p:nvSpPr>
          <p:cNvPr id="16" name="bc10_15"/>
          <p:cNvSpPr txBox="1"/>
          <p:nvPr/>
        </p:nvSpPr>
        <p:spPr>
          <a:xfrm>
            <a:off x="3977640" y="512978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t.me/fidicuzb</a:t>
            </a:r>
            <a:endParaRPr lang="en-US" sz="1400" dirty="0"/>
          </a:p>
        </p:txBody>
      </p:sp>
      <p:sp>
        <p:nvSpPr>
          <p:cNvPr id="17" name="bc10_16"/>
          <p:cNvSpPr txBox="1"/>
          <p:nvPr/>
        </p:nvSpPr>
        <p:spPr>
          <a:xfrm>
            <a:off x="685800" y="55778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50" kern="0" dirty="0">
                <a:solidFill>
                  <a:srgbClr val="D8BD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АДРЕС</a:t>
            </a:r>
            <a:endParaRPr lang="en-US" sz="800" dirty="0"/>
          </a:p>
        </p:txBody>
      </p:sp>
      <p:sp>
        <p:nvSpPr>
          <p:cNvPr id="18" name="bc10_17"/>
          <p:cNvSpPr txBox="1"/>
          <p:nvPr/>
        </p:nvSpPr>
        <p:spPr>
          <a:xfrm>
            <a:off x="685800" y="581558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100180, Ташкент, Юнусабадский район, ул. Ахмада Дониша, 12 квартал, 20А</a:t>
            </a:r>
            <a:endParaRPr lang="en-US" sz="1100" dirty="0"/>
          </a:p>
        </p:txBody>
      </p:sp>
      <p:sp>
        <p:nvSpPr>
          <p:cNvPr id="19" name="bc10_18"/>
          <p:cNvSpPr/>
          <p:nvPr/>
        </p:nvSpPr>
        <p:spPr>
          <a:xfrm>
            <a:off x="9464040" y="3977640"/>
            <a:ext cx="2057400" cy="2057400"/>
          </a:xfrm>
          <a:prstGeom prst="rect">
            <a:avLst/>
          </a:prstGeom>
          <a:solidFill>
            <a:srgbClr val="0D0C0B"/>
          </a:solidFill>
          <a:ln w="9525">
            <a:solidFill>
              <a:srgbClr val="4A4034"/>
            </a:solidFill>
            <a:prstDash val="solid"/>
          </a:ln>
        </p:spPr>
      </p:sp>
      <p:pic>
        <p:nvPicPr>
          <p:cNvPr id="20" name="bc10_19" descr="/home/user/bridge-astro/presentation/company-2026/assets/q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6920" y="4160520"/>
            <a:ext cx="1691640" cy="1691640"/>
          </a:xfrm>
          <a:prstGeom prst="rect">
            <a:avLst/>
          </a:prstGeom>
        </p:spPr>
      </p:pic>
      <p:sp>
        <p:nvSpPr>
          <p:cNvPr id="21" name="bc10_20"/>
          <p:cNvSpPr txBox="1"/>
          <p:nvPr/>
        </p:nvSpPr>
        <p:spPr>
          <a:xfrm>
            <a:off x="8778240" y="61722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spc="200" kern="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СКАНИРУЙТЕ — САЙТ КОМПАНИИ</a:t>
            </a:r>
            <a:endParaRPr lang="en-US" sz="750" dirty="0"/>
          </a:p>
        </p:txBody>
      </p:sp>
      <p:sp>
        <p:nvSpPr>
          <p:cNvPr id="22" name="bc10_21"/>
          <p:cNvSpPr txBox="1"/>
          <p:nvPr/>
        </p:nvSpPr>
        <p:spPr>
          <a:xfrm>
            <a:off x="68580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39C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Строим связи — достигаем результата</a:t>
            </a:r>
            <a:endParaRPr lang="en-US" sz="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 decel="10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 decel="10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1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1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8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8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8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8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8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8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8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53" presetClass="entr" presetSubtype="16" fill="hold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5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 animBg="1"/>
      <p:bldP spid="21" grpId="0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BRIDGE Consult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BRIDGE Consult — презентация компании</dc:title>
  <dc:subject>Контрактный инжиниринг, FIDIC, разрешение споров</dc:subject>
  <dc:creator>BRIDGE Consult LLC</dc:creator>
  <cp:lastModifiedBy>BRIDGE Consult LLC</cp:lastModifiedBy>
  <cp:revision>1</cp:revision>
  <dcterms:created xsi:type="dcterms:W3CDTF">2026-09-30T13:36:52Z</dcterms:created>
  <dcterms:modified xsi:type="dcterms:W3CDTF">2026-09-30T13:36:52Z</dcterms:modified>
</cp:coreProperties>
</file>